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1"/>
  </p:notesMasterIdLst>
  <p:sldIdLst>
    <p:sldId id="256" r:id="rId2"/>
    <p:sldId id="290" r:id="rId3"/>
    <p:sldId id="259" r:id="rId4"/>
    <p:sldId id="260" r:id="rId5"/>
    <p:sldId id="258" r:id="rId6"/>
    <p:sldId id="299" r:id="rId7"/>
    <p:sldId id="262" r:id="rId8"/>
    <p:sldId id="292" r:id="rId9"/>
    <p:sldId id="257" r:id="rId10"/>
    <p:sldId id="294" r:id="rId11"/>
    <p:sldId id="266" r:id="rId12"/>
    <p:sldId id="263" r:id="rId13"/>
    <p:sldId id="295" r:id="rId14"/>
    <p:sldId id="296" r:id="rId15"/>
    <p:sldId id="267" r:id="rId16"/>
    <p:sldId id="297" r:id="rId17"/>
    <p:sldId id="298" r:id="rId18"/>
    <p:sldId id="271" r:id="rId19"/>
    <p:sldId id="270" r:id="rId20"/>
  </p:sldIdLst>
  <p:sldSz cx="9144000" cy="5143500" type="screen16x9"/>
  <p:notesSz cx="6858000" cy="9144000"/>
  <p:embeddedFontLst>
    <p:embeddedFont>
      <p:font typeface="Anaheim" panose="020B0604020202020204" charset="0"/>
      <p:regular r:id="rId22"/>
      <p:bold r:id="rId23"/>
    </p:embeddedFont>
    <p:embeddedFont>
      <p:font typeface="Arimo" panose="020B0604020202020204" charset="0"/>
      <p:regular r:id="rId24"/>
      <p:bold r:id="rId25"/>
      <p:italic r:id="rId26"/>
      <p:boldItalic r:id="rId27"/>
    </p:embeddedFont>
    <p:embeddedFont>
      <p:font typeface="Bebas Neue" panose="020B0606020202050201" pitchFamily="34" charset="0"/>
      <p:regular r:id="rId28"/>
    </p:embeddedFont>
    <p:embeddedFont>
      <p:font typeface="Nunito Light" pitchFamily="2" charset="0"/>
      <p:regular r:id="rId29"/>
      <p:italic r:id="rId30"/>
    </p:embeddedFont>
    <p:embeddedFont>
      <p:font typeface="Open Sans Light" panose="020B0306030504020204" pitchFamily="34" charset="0"/>
      <p:regular r:id="rId31"/>
      <p:italic r:id="rId32"/>
    </p:embeddedFont>
    <p:embeddedFont>
      <p:font typeface="Outfit" panose="020B0604020202020204" charset="0"/>
      <p:regular r:id="rId33"/>
      <p:bold r:id="rId34"/>
    </p:embeddedFont>
    <p:embeddedFont>
      <p:font typeface="Raleway" pitchFamily="2" charset="0"/>
      <p:regular r:id="rId35"/>
      <p:bold r:id="rId36"/>
      <p:italic r:id="rId37"/>
      <p:boldItalic r:id="rId38"/>
    </p:embeddedFont>
    <p:embeddedFont>
      <p:font typeface="Trebuchet MS" panose="020B060302020202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F4BA7B-6FE5-44DF-9EBE-25428AB8F4FC}">
  <a:tblStyle styleId="{4CF4BA7B-6FE5-44DF-9EBE-25428AB8F4F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C9373CB6-C8FD-A416-B911-275B42BC041A}"/>
            </a:ext>
          </a:extLst>
        </p:cNvPr>
        <p:cNvGrpSpPr/>
        <p:nvPr/>
      </p:nvGrpSpPr>
      <p:grpSpPr>
        <a:xfrm>
          <a:off x="0" y="0"/>
          <a:ext cx="0" cy="0"/>
          <a:chOff x="0" y="0"/>
          <a:chExt cx="0" cy="0"/>
        </a:xfrm>
      </p:grpSpPr>
      <p:sp>
        <p:nvSpPr>
          <p:cNvPr id="154" name="Google Shape;154;g54dda1946d_6_308:notes">
            <a:extLst>
              <a:ext uri="{FF2B5EF4-FFF2-40B4-BE49-F238E27FC236}">
                <a16:creationId xmlns:a16="http://schemas.microsoft.com/office/drawing/2014/main" id="{CD543408-588F-6D44-232D-838FAFAB45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54dda1946d_6_308:notes">
            <a:extLst>
              <a:ext uri="{FF2B5EF4-FFF2-40B4-BE49-F238E27FC236}">
                <a16:creationId xmlns:a16="http://schemas.microsoft.com/office/drawing/2014/main" id="{3D86344C-6F84-4AFA-9F1E-AF42F01DFC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6448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1E9E5D93-8202-BFE2-A0FC-5F639AE696D7}"/>
            </a:ext>
          </a:extLst>
        </p:cNvPr>
        <p:cNvGrpSpPr/>
        <p:nvPr/>
      </p:nvGrpSpPr>
      <p:grpSpPr>
        <a:xfrm>
          <a:off x="0" y="0"/>
          <a:ext cx="0" cy="0"/>
          <a:chOff x="0" y="0"/>
          <a:chExt cx="0" cy="0"/>
        </a:xfrm>
      </p:grpSpPr>
      <p:sp>
        <p:nvSpPr>
          <p:cNvPr id="218" name="Google Shape;218;gd5260bdd85_0_270:notes">
            <a:extLst>
              <a:ext uri="{FF2B5EF4-FFF2-40B4-BE49-F238E27FC236}">
                <a16:creationId xmlns:a16="http://schemas.microsoft.com/office/drawing/2014/main" id="{BF24B25A-7AEA-EF60-029C-C9C1C97065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d5260bdd85_0_270:notes">
            <a:extLst>
              <a:ext uri="{FF2B5EF4-FFF2-40B4-BE49-F238E27FC236}">
                <a16:creationId xmlns:a16="http://schemas.microsoft.com/office/drawing/2014/main" id="{EE400E47-CA0F-09BB-66EE-CE35AF6364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4663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3eb07d1d08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3eb07d1d0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3eb07d1d0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3eb07d1d0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539500"/>
            <a:ext cx="6234900" cy="924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1363358"/>
            <a:ext cx="6234900" cy="412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1" name="Google Shape;11;p2"/>
          <p:cNvPicPr preferRelativeResize="0"/>
          <p:nvPr/>
        </p:nvPicPr>
        <p:blipFill rotWithShape="1">
          <a:blip r:embed="rId2">
            <a:alphaModFix/>
          </a:blip>
          <a:srcRect l="6448" t="15268" r="28413" b="40215"/>
          <a:stretch/>
        </p:blipFill>
        <p:spPr>
          <a:xfrm>
            <a:off x="4917025" y="2254925"/>
            <a:ext cx="4226974" cy="28885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13225" y="2918300"/>
            <a:ext cx="5067600" cy="1511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13225" y="1653800"/>
            <a:ext cx="1140000" cy="915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pic>
        <p:nvPicPr>
          <p:cNvPr id="15" name="Google Shape;15;p3"/>
          <p:cNvPicPr preferRelativeResize="0"/>
          <p:nvPr/>
        </p:nvPicPr>
        <p:blipFill rotWithShape="1">
          <a:blip r:embed="rId2">
            <a:alphaModFix/>
          </a:blip>
          <a:srcRect r="30133" b="37834"/>
          <a:stretch/>
        </p:blipFill>
        <p:spPr>
          <a:xfrm rot="-5400000">
            <a:off x="4881376" y="235000"/>
            <a:ext cx="4533624" cy="40339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pic>
        <p:nvPicPr>
          <p:cNvPr id="17" name="Google Shape;17;p4"/>
          <p:cNvPicPr preferRelativeResize="0"/>
          <p:nvPr/>
        </p:nvPicPr>
        <p:blipFill rotWithShape="1">
          <a:blip r:embed="rId2">
            <a:alphaModFix/>
          </a:blip>
          <a:srcRect l="45864" t="18031" r="7191" b="53374"/>
          <a:stretch/>
        </p:blipFill>
        <p:spPr>
          <a:xfrm rot="5400000">
            <a:off x="-595312" y="595314"/>
            <a:ext cx="3046051" cy="1855424"/>
          </a:xfrm>
          <a:prstGeom prst="rect">
            <a:avLst/>
          </a:prstGeom>
          <a:noFill/>
          <a:ln>
            <a:noFill/>
          </a:ln>
        </p:spPr>
      </p:pic>
      <p:sp>
        <p:nvSpPr>
          <p:cNvPr id="18" name="Google Shape;18;p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 name="Google Shape;19;p4"/>
          <p:cNvSpPr txBox="1">
            <a:spLocks noGrp="1"/>
          </p:cNvSpPr>
          <p:nvPr>
            <p:ph type="body" idx="1"/>
          </p:nvPr>
        </p:nvSpPr>
        <p:spPr>
          <a:xfrm>
            <a:off x="720000" y="1584375"/>
            <a:ext cx="5081700" cy="3019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9" name="Google Shape;29;p6"/>
          <p:cNvPicPr preferRelativeResize="0"/>
          <p:nvPr/>
        </p:nvPicPr>
        <p:blipFill rotWithShape="1">
          <a:blip r:embed="rId2">
            <a:alphaModFix/>
          </a:blip>
          <a:srcRect l="29903" b="52159"/>
          <a:stretch/>
        </p:blipFill>
        <p:spPr>
          <a:xfrm flipH="1">
            <a:off x="4595550" y="2036662"/>
            <a:ext cx="4548450" cy="310427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subTitle" idx="1"/>
          </p:nvPr>
        </p:nvSpPr>
        <p:spPr>
          <a:xfrm>
            <a:off x="713225" y="1584375"/>
            <a:ext cx="3774000" cy="1692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Open Sans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32" name="Google Shape;32;p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3" name="Google Shape;33;p7"/>
          <p:cNvSpPr>
            <a:spLocks noGrp="1"/>
          </p:cNvSpPr>
          <p:nvPr>
            <p:ph type="pic" idx="2"/>
          </p:nvPr>
        </p:nvSpPr>
        <p:spPr>
          <a:xfrm>
            <a:off x="4650075" y="1584375"/>
            <a:ext cx="3774000" cy="1419900"/>
          </a:xfrm>
          <a:prstGeom prst="rect">
            <a:avLst/>
          </a:prstGeom>
          <a:noFill/>
          <a:ln>
            <a:noFill/>
          </a:ln>
        </p:spPr>
      </p:sp>
      <p:pic>
        <p:nvPicPr>
          <p:cNvPr id="34" name="Google Shape;34;p7"/>
          <p:cNvPicPr preferRelativeResize="0"/>
          <p:nvPr/>
        </p:nvPicPr>
        <p:blipFill rotWithShape="1">
          <a:blip r:embed="rId2">
            <a:alphaModFix/>
          </a:blip>
          <a:srcRect l="29903" b="52159"/>
          <a:stretch/>
        </p:blipFill>
        <p:spPr>
          <a:xfrm>
            <a:off x="0" y="2039225"/>
            <a:ext cx="4548450" cy="3104274"/>
          </a:xfrm>
          <a:prstGeom prst="rect">
            <a:avLst/>
          </a:prstGeom>
          <a:noFill/>
          <a:ln>
            <a:noFill/>
          </a:ln>
        </p:spPr>
      </p:pic>
      <p:sp>
        <p:nvSpPr>
          <p:cNvPr id="35" name="Google Shape;35;p7"/>
          <p:cNvSpPr>
            <a:spLocks noGrp="1"/>
          </p:cNvSpPr>
          <p:nvPr>
            <p:ph type="pic" idx="3"/>
          </p:nvPr>
        </p:nvSpPr>
        <p:spPr>
          <a:xfrm>
            <a:off x="4650075" y="3184100"/>
            <a:ext cx="3774000" cy="1419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pic>
        <p:nvPicPr>
          <p:cNvPr id="37" name="Google Shape;37;p8"/>
          <p:cNvPicPr preferRelativeResize="0"/>
          <p:nvPr/>
        </p:nvPicPr>
        <p:blipFill rotWithShape="1">
          <a:blip r:embed="rId2">
            <a:alphaModFix/>
          </a:blip>
          <a:srcRect t="43938" r="58155" b="-39"/>
          <a:stretch/>
        </p:blipFill>
        <p:spPr>
          <a:xfrm>
            <a:off x="6428625" y="-1"/>
            <a:ext cx="2715374" cy="3640326"/>
          </a:xfrm>
          <a:prstGeom prst="rect">
            <a:avLst/>
          </a:prstGeom>
          <a:noFill/>
          <a:ln>
            <a:noFill/>
          </a:ln>
        </p:spPr>
      </p:pic>
      <p:sp>
        <p:nvSpPr>
          <p:cNvPr id="38" name="Google Shape;38;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pic>
        <p:nvPicPr>
          <p:cNvPr id="40" name="Google Shape;40;p9"/>
          <p:cNvPicPr preferRelativeResize="0"/>
          <p:nvPr/>
        </p:nvPicPr>
        <p:blipFill rotWithShape="1">
          <a:blip r:embed="rId2">
            <a:alphaModFix/>
          </a:blip>
          <a:srcRect l="29903" b="52159"/>
          <a:stretch/>
        </p:blipFill>
        <p:spPr>
          <a:xfrm>
            <a:off x="0" y="2039225"/>
            <a:ext cx="4548450" cy="3104274"/>
          </a:xfrm>
          <a:prstGeom prst="rect">
            <a:avLst/>
          </a:prstGeom>
          <a:noFill/>
          <a:ln>
            <a:noFill/>
          </a:ln>
        </p:spPr>
      </p:pic>
      <p:sp>
        <p:nvSpPr>
          <p:cNvPr id="41" name="Google Shape;41;p9"/>
          <p:cNvSpPr txBox="1">
            <a:spLocks noGrp="1"/>
          </p:cNvSpPr>
          <p:nvPr>
            <p:ph type="title"/>
          </p:nvPr>
        </p:nvSpPr>
        <p:spPr>
          <a:xfrm>
            <a:off x="2135550" y="1441675"/>
            <a:ext cx="4872900" cy="118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2" name="Google Shape;42;p9"/>
          <p:cNvSpPr txBox="1">
            <a:spLocks noGrp="1"/>
          </p:cNvSpPr>
          <p:nvPr>
            <p:ph type="subTitle" idx="1"/>
          </p:nvPr>
        </p:nvSpPr>
        <p:spPr>
          <a:xfrm>
            <a:off x="2135550" y="278462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a:spLocks noGrp="1"/>
          </p:cNvSpPr>
          <p:nvPr>
            <p:ph type="pic" idx="2"/>
          </p:nvPr>
        </p:nvSpPr>
        <p:spPr>
          <a:xfrm>
            <a:off x="0" y="0"/>
            <a:ext cx="9144000" cy="5143500"/>
          </a:xfrm>
          <a:prstGeom prst="rect">
            <a:avLst/>
          </a:prstGeom>
          <a:noFill/>
          <a:ln>
            <a:noFill/>
          </a:ln>
        </p:spPr>
      </p:sp>
      <p:sp>
        <p:nvSpPr>
          <p:cNvPr id="45" name="Google Shape;45;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6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1"/>
        <p:cNvGrpSpPr/>
        <p:nvPr/>
      </p:nvGrpSpPr>
      <p:grpSpPr>
        <a:xfrm>
          <a:off x="0" y="0"/>
          <a:ext cx="0" cy="0"/>
          <a:chOff x="0" y="0"/>
          <a:chExt cx="0" cy="0"/>
        </a:xfrm>
      </p:grpSpPr>
      <p:pic>
        <p:nvPicPr>
          <p:cNvPr id="52" name="Google Shape;52;p13"/>
          <p:cNvPicPr preferRelativeResize="0"/>
          <p:nvPr/>
        </p:nvPicPr>
        <p:blipFill rotWithShape="1">
          <a:blip r:embed="rId2">
            <a:alphaModFix/>
          </a:blip>
          <a:srcRect l="29903" b="52159"/>
          <a:stretch/>
        </p:blipFill>
        <p:spPr>
          <a:xfrm rot="10800000">
            <a:off x="4595550" y="0"/>
            <a:ext cx="4548450" cy="3104274"/>
          </a:xfrm>
          <a:prstGeom prst="rect">
            <a:avLst/>
          </a:prstGeom>
          <a:noFill/>
          <a:ln>
            <a:noFill/>
          </a:ln>
        </p:spPr>
      </p:pic>
      <p:sp>
        <p:nvSpPr>
          <p:cNvPr id="53" name="Google Shape;53;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4" name="Google Shape;54;p13"/>
          <p:cNvSpPr txBox="1">
            <a:spLocks noGrp="1"/>
          </p:cNvSpPr>
          <p:nvPr>
            <p:ph type="title" idx="2" hasCustomPrompt="1"/>
          </p:nvPr>
        </p:nvSpPr>
        <p:spPr>
          <a:xfrm>
            <a:off x="713225" y="1754900"/>
            <a:ext cx="8388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title" idx="3" hasCustomPrompt="1"/>
          </p:nvPr>
        </p:nvSpPr>
        <p:spPr>
          <a:xfrm>
            <a:off x="713225" y="3275363"/>
            <a:ext cx="8388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title" idx="4" hasCustomPrompt="1"/>
          </p:nvPr>
        </p:nvSpPr>
        <p:spPr>
          <a:xfrm>
            <a:off x="3342325" y="1754900"/>
            <a:ext cx="8388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5" hasCustomPrompt="1"/>
          </p:nvPr>
        </p:nvSpPr>
        <p:spPr>
          <a:xfrm>
            <a:off x="3342325" y="3275363"/>
            <a:ext cx="8388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6" hasCustomPrompt="1"/>
          </p:nvPr>
        </p:nvSpPr>
        <p:spPr>
          <a:xfrm>
            <a:off x="5971425" y="1754900"/>
            <a:ext cx="8388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title" idx="7" hasCustomPrompt="1"/>
          </p:nvPr>
        </p:nvSpPr>
        <p:spPr>
          <a:xfrm>
            <a:off x="5971425" y="3275363"/>
            <a:ext cx="8388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 name="Google Shape;60;p13"/>
          <p:cNvSpPr txBox="1">
            <a:spLocks noGrp="1"/>
          </p:cNvSpPr>
          <p:nvPr>
            <p:ph type="subTitle" idx="1"/>
          </p:nvPr>
        </p:nvSpPr>
        <p:spPr>
          <a:xfrm>
            <a:off x="713225" y="2202258"/>
            <a:ext cx="2445900" cy="6303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16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1" name="Google Shape;61;p13"/>
          <p:cNvSpPr txBox="1">
            <a:spLocks noGrp="1"/>
          </p:cNvSpPr>
          <p:nvPr>
            <p:ph type="subTitle" idx="8"/>
          </p:nvPr>
        </p:nvSpPr>
        <p:spPr>
          <a:xfrm>
            <a:off x="3342330" y="2202258"/>
            <a:ext cx="2445900" cy="6303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16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2" name="Google Shape;62;p13"/>
          <p:cNvSpPr txBox="1">
            <a:spLocks noGrp="1"/>
          </p:cNvSpPr>
          <p:nvPr>
            <p:ph type="subTitle" idx="9"/>
          </p:nvPr>
        </p:nvSpPr>
        <p:spPr>
          <a:xfrm>
            <a:off x="5971427" y="2202258"/>
            <a:ext cx="2445900" cy="6303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16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3" name="Google Shape;63;p13"/>
          <p:cNvSpPr txBox="1">
            <a:spLocks noGrp="1"/>
          </p:cNvSpPr>
          <p:nvPr>
            <p:ph type="subTitle" idx="13"/>
          </p:nvPr>
        </p:nvSpPr>
        <p:spPr>
          <a:xfrm>
            <a:off x="713225" y="3722800"/>
            <a:ext cx="2445900" cy="6303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16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4" name="Google Shape;64;p13"/>
          <p:cNvSpPr txBox="1">
            <a:spLocks noGrp="1"/>
          </p:cNvSpPr>
          <p:nvPr>
            <p:ph type="subTitle" idx="14"/>
          </p:nvPr>
        </p:nvSpPr>
        <p:spPr>
          <a:xfrm>
            <a:off x="3342330" y="3722800"/>
            <a:ext cx="2445900" cy="6303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16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 name="Google Shape;65;p13"/>
          <p:cNvSpPr txBox="1">
            <a:spLocks noGrp="1"/>
          </p:cNvSpPr>
          <p:nvPr>
            <p:ph type="subTitle" idx="15"/>
          </p:nvPr>
        </p:nvSpPr>
        <p:spPr>
          <a:xfrm>
            <a:off x="5971427" y="3722800"/>
            <a:ext cx="2445900" cy="6303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Bebas Neue"/>
              <a:buNone/>
              <a:defRPr sz="1600" b="1">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66"/>
        <p:cNvGrpSpPr/>
        <p:nvPr/>
      </p:nvGrpSpPr>
      <p:grpSpPr>
        <a:xfrm>
          <a:off x="0" y="0"/>
          <a:ext cx="0" cy="0"/>
          <a:chOff x="0" y="0"/>
          <a:chExt cx="0" cy="0"/>
        </a:xfrm>
      </p:grpSpPr>
      <p:pic>
        <p:nvPicPr>
          <p:cNvPr id="67" name="Google Shape;67;p14"/>
          <p:cNvPicPr preferRelativeResize="0"/>
          <p:nvPr/>
        </p:nvPicPr>
        <p:blipFill rotWithShape="1">
          <a:blip r:embed="rId2">
            <a:alphaModFix/>
          </a:blip>
          <a:srcRect l="29903" b="56219"/>
          <a:stretch/>
        </p:blipFill>
        <p:spPr>
          <a:xfrm rot="5400000" flipH="1">
            <a:off x="-861575" y="1448850"/>
            <a:ext cx="4548450" cy="2840851"/>
          </a:xfrm>
          <a:prstGeom prst="rect">
            <a:avLst/>
          </a:prstGeom>
          <a:noFill/>
          <a:ln>
            <a:noFill/>
          </a:ln>
        </p:spPr>
      </p:pic>
      <p:sp>
        <p:nvSpPr>
          <p:cNvPr id="68" name="Google Shape;68;p1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69"/>
        <p:cNvGrpSpPr/>
        <p:nvPr/>
      </p:nvGrpSpPr>
      <p:grpSpPr>
        <a:xfrm>
          <a:off x="0" y="0"/>
          <a:ext cx="0" cy="0"/>
          <a:chOff x="0" y="0"/>
          <a:chExt cx="0" cy="0"/>
        </a:xfrm>
      </p:grpSpPr>
      <p:pic>
        <p:nvPicPr>
          <p:cNvPr id="70" name="Google Shape;70;p15"/>
          <p:cNvPicPr preferRelativeResize="0"/>
          <p:nvPr/>
        </p:nvPicPr>
        <p:blipFill rotWithShape="1">
          <a:blip r:embed="rId2">
            <a:alphaModFix/>
          </a:blip>
          <a:srcRect l="29903" b="52159"/>
          <a:stretch/>
        </p:blipFill>
        <p:spPr>
          <a:xfrm rot="-5400000" flipH="1">
            <a:off x="5317650" y="722087"/>
            <a:ext cx="4548450" cy="3104274"/>
          </a:xfrm>
          <a:prstGeom prst="rect">
            <a:avLst/>
          </a:prstGeom>
          <a:noFill/>
          <a:ln>
            <a:noFill/>
          </a:ln>
        </p:spPr>
      </p:pic>
      <p:sp>
        <p:nvSpPr>
          <p:cNvPr id="71" name="Google Shape;71;p1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72"/>
        <p:cNvGrpSpPr/>
        <p:nvPr/>
      </p:nvGrpSpPr>
      <p:grpSpPr>
        <a:xfrm>
          <a:off x="0" y="0"/>
          <a:ext cx="0" cy="0"/>
          <a:chOff x="0" y="0"/>
          <a:chExt cx="0" cy="0"/>
        </a:xfrm>
      </p:grpSpPr>
      <p:pic>
        <p:nvPicPr>
          <p:cNvPr id="73" name="Google Shape;73;p16"/>
          <p:cNvPicPr preferRelativeResize="0"/>
          <p:nvPr/>
        </p:nvPicPr>
        <p:blipFill rotWithShape="1">
          <a:blip r:embed="rId2">
            <a:alphaModFix/>
          </a:blip>
          <a:srcRect r="55553" b="37834"/>
          <a:stretch/>
        </p:blipFill>
        <p:spPr>
          <a:xfrm rot="5400000">
            <a:off x="585700" y="1697050"/>
            <a:ext cx="2884175" cy="4033976"/>
          </a:xfrm>
          <a:prstGeom prst="rect">
            <a:avLst/>
          </a:prstGeom>
          <a:noFill/>
          <a:ln>
            <a:noFill/>
          </a:ln>
        </p:spPr>
      </p:pic>
      <p:sp>
        <p:nvSpPr>
          <p:cNvPr id="74" name="Google Shape;74;p16"/>
          <p:cNvSpPr txBox="1">
            <a:spLocks noGrp="1"/>
          </p:cNvSpPr>
          <p:nvPr>
            <p:ph type="title"/>
          </p:nvPr>
        </p:nvSpPr>
        <p:spPr>
          <a:xfrm>
            <a:off x="720000" y="539488"/>
            <a:ext cx="3597900" cy="10632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5" name="Google Shape;75;p16"/>
          <p:cNvSpPr txBox="1">
            <a:spLocks noGrp="1"/>
          </p:cNvSpPr>
          <p:nvPr>
            <p:ph type="subTitle" idx="1"/>
          </p:nvPr>
        </p:nvSpPr>
        <p:spPr>
          <a:xfrm>
            <a:off x="720000" y="1602688"/>
            <a:ext cx="3597900" cy="805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76"/>
        <p:cNvGrpSpPr/>
        <p:nvPr/>
      </p:nvGrpSpPr>
      <p:grpSpPr>
        <a:xfrm>
          <a:off x="0" y="0"/>
          <a:ext cx="0" cy="0"/>
          <a:chOff x="0" y="0"/>
          <a:chExt cx="0" cy="0"/>
        </a:xfrm>
      </p:grpSpPr>
      <p:pic>
        <p:nvPicPr>
          <p:cNvPr id="77" name="Google Shape;77;p17"/>
          <p:cNvPicPr preferRelativeResize="0"/>
          <p:nvPr/>
        </p:nvPicPr>
        <p:blipFill rotWithShape="1">
          <a:blip r:embed="rId2">
            <a:alphaModFix/>
          </a:blip>
          <a:srcRect l="42976" t="8608" r="8130" b="53370"/>
          <a:stretch/>
        </p:blipFill>
        <p:spPr>
          <a:xfrm>
            <a:off x="0" y="2676375"/>
            <a:ext cx="3172500" cy="2467125"/>
          </a:xfrm>
          <a:prstGeom prst="rect">
            <a:avLst/>
          </a:prstGeom>
          <a:noFill/>
          <a:ln>
            <a:noFill/>
          </a:ln>
        </p:spPr>
      </p:pic>
      <p:sp>
        <p:nvSpPr>
          <p:cNvPr id="78" name="Google Shape;78;p1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 name="Google Shape;79;p17"/>
          <p:cNvSpPr txBox="1">
            <a:spLocks noGrp="1"/>
          </p:cNvSpPr>
          <p:nvPr>
            <p:ph type="subTitle" idx="1"/>
          </p:nvPr>
        </p:nvSpPr>
        <p:spPr>
          <a:xfrm>
            <a:off x="720000" y="2371726"/>
            <a:ext cx="2452500" cy="1242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0" name="Google Shape;80;p17"/>
          <p:cNvSpPr txBox="1">
            <a:spLocks noGrp="1"/>
          </p:cNvSpPr>
          <p:nvPr>
            <p:ph type="subTitle" idx="2"/>
          </p:nvPr>
        </p:nvSpPr>
        <p:spPr>
          <a:xfrm>
            <a:off x="3345747" y="2371726"/>
            <a:ext cx="2452500" cy="1242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1" name="Google Shape;81;p17"/>
          <p:cNvSpPr txBox="1">
            <a:spLocks noGrp="1"/>
          </p:cNvSpPr>
          <p:nvPr>
            <p:ph type="subTitle" idx="3"/>
          </p:nvPr>
        </p:nvSpPr>
        <p:spPr>
          <a:xfrm>
            <a:off x="5971500" y="2371726"/>
            <a:ext cx="2452500" cy="1242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2" name="Google Shape;82;p17"/>
          <p:cNvSpPr txBox="1">
            <a:spLocks noGrp="1"/>
          </p:cNvSpPr>
          <p:nvPr>
            <p:ph type="subTitle" idx="4"/>
          </p:nvPr>
        </p:nvSpPr>
        <p:spPr>
          <a:xfrm>
            <a:off x="720000" y="1584375"/>
            <a:ext cx="2452500" cy="78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6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3" name="Google Shape;83;p17"/>
          <p:cNvSpPr txBox="1">
            <a:spLocks noGrp="1"/>
          </p:cNvSpPr>
          <p:nvPr>
            <p:ph type="subTitle" idx="5"/>
          </p:nvPr>
        </p:nvSpPr>
        <p:spPr>
          <a:xfrm>
            <a:off x="3345753" y="1584375"/>
            <a:ext cx="2452500" cy="78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6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 name="Google Shape;84;p17"/>
          <p:cNvSpPr txBox="1">
            <a:spLocks noGrp="1"/>
          </p:cNvSpPr>
          <p:nvPr>
            <p:ph type="subTitle" idx="6"/>
          </p:nvPr>
        </p:nvSpPr>
        <p:spPr>
          <a:xfrm>
            <a:off x="5971505" y="1584375"/>
            <a:ext cx="2452500" cy="78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600" b="1">
                <a:solidFill>
                  <a:schemeClr val="dk1"/>
                </a:solidFill>
                <a:latin typeface="Outfit"/>
                <a:ea typeface="Outfit"/>
                <a:cs typeface="Outfit"/>
                <a:sym typeface="Outfi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85"/>
        <p:cNvGrpSpPr/>
        <p:nvPr/>
      </p:nvGrpSpPr>
      <p:grpSpPr>
        <a:xfrm>
          <a:off x="0" y="0"/>
          <a:ext cx="0" cy="0"/>
          <a:chOff x="0" y="0"/>
          <a:chExt cx="0" cy="0"/>
        </a:xfrm>
      </p:grpSpPr>
      <p:pic>
        <p:nvPicPr>
          <p:cNvPr id="86" name="Google Shape;86;p18"/>
          <p:cNvPicPr preferRelativeResize="0"/>
          <p:nvPr/>
        </p:nvPicPr>
        <p:blipFill rotWithShape="1">
          <a:blip r:embed="rId2">
            <a:alphaModFix/>
          </a:blip>
          <a:srcRect l="29903" b="52159"/>
          <a:stretch/>
        </p:blipFill>
        <p:spPr>
          <a:xfrm flipH="1">
            <a:off x="4595550" y="2036662"/>
            <a:ext cx="4548450" cy="3104274"/>
          </a:xfrm>
          <a:prstGeom prst="rect">
            <a:avLst/>
          </a:prstGeom>
          <a:noFill/>
          <a:ln>
            <a:noFill/>
          </a:ln>
        </p:spPr>
      </p:pic>
      <p:sp>
        <p:nvSpPr>
          <p:cNvPr id="87" name="Google Shape;87;p1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 name="Google Shape;88;p18"/>
          <p:cNvSpPr txBox="1">
            <a:spLocks noGrp="1"/>
          </p:cNvSpPr>
          <p:nvPr>
            <p:ph type="subTitle" idx="1"/>
          </p:nvPr>
        </p:nvSpPr>
        <p:spPr>
          <a:xfrm>
            <a:off x="713225" y="1943700"/>
            <a:ext cx="3767100" cy="75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9" name="Google Shape;89;p18"/>
          <p:cNvSpPr txBox="1">
            <a:spLocks noGrp="1"/>
          </p:cNvSpPr>
          <p:nvPr>
            <p:ph type="subTitle" idx="2"/>
          </p:nvPr>
        </p:nvSpPr>
        <p:spPr>
          <a:xfrm>
            <a:off x="4656906" y="1943700"/>
            <a:ext cx="3767100" cy="75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0" name="Google Shape;90;p18"/>
          <p:cNvSpPr txBox="1">
            <a:spLocks noGrp="1"/>
          </p:cNvSpPr>
          <p:nvPr>
            <p:ph type="subTitle" idx="3"/>
          </p:nvPr>
        </p:nvSpPr>
        <p:spPr>
          <a:xfrm>
            <a:off x="713225" y="3210950"/>
            <a:ext cx="3767100" cy="75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1" name="Google Shape;91;p18"/>
          <p:cNvSpPr txBox="1">
            <a:spLocks noGrp="1"/>
          </p:cNvSpPr>
          <p:nvPr>
            <p:ph type="subTitle" idx="4"/>
          </p:nvPr>
        </p:nvSpPr>
        <p:spPr>
          <a:xfrm>
            <a:off x="4656906" y="3210950"/>
            <a:ext cx="3767100" cy="75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2" name="Google Shape;92;p18"/>
          <p:cNvSpPr txBox="1">
            <a:spLocks noGrp="1"/>
          </p:cNvSpPr>
          <p:nvPr>
            <p:ph type="subTitle" idx="5"/>
          </p:nvPr>
        </p:nvSpPr>
        <p:spPr>
          <a:xfrm>
            <a:off x="713225" y="1578850"/>
            <a:ext cx="3767100" cy="44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600" b="1">
                <a:solidFill>
                  <a:schemeClr val="dk1"/>
                </a:solidFill>
                <a:latin typeface="Outfit"/>
                <a:ea typeface="Outfit"/>
                <a:cs typeface="Outfit"/>
                <a:sym typeface="Outfi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93" name="Google Shape;93;p18"/>
          <p:cNvSpPr txBox="1">
            <a:spLocks noGrp="1"/>
          </p:cNvSpPr>
          <p:nvPr>
            <p:ph type="subTitle" idx="6"/>
          </p:nvPr>
        </p:nvSpPr>
        <p:spPr>
          <a:xfrm>
            <a:off x="713225" y="2846275"/>
            <a:ext cx="3767100" cy="44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600" b="1">
                <a:solidFill>
                  <a:schemeClr val="dk1"/>
                </a:solidFill>
                <a:latin typeface="Outfit"/>
                <a:ea typeface="Outfit"/>
                <a:cs typeface="Outfit"/>
                <a:sym typeface="Outfi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94" name="Google Shape;94;p18"/>
          <p:cNvSpPr txBox="1">
            <a:spLocks noGrp="1"/>
          </p:cNvSpPr>
          <p:nvPr>
            <p:ph type="subTitle" idx="7"/>
          </p:nvPr>
        </p:nvSpPr>
        <p:spPr>
          <a:xfrm>
            <a:off x="4656875" y="1578850"/>
            <a:ext cx="3767100" cy="44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600" b="1">
                <a:solidFill>
                  <a:schemeClr val="dk1"/>
                </a:solidFill>
                <a:latin typeface="Outfit"/>
                <a:ea typeface="Outfit"/>
                <a:cs typeface="Outfit"/>
                <a:sym typeface="Outfi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95" name="Google Shape;95;p18"/>
          <p:cNvSpPr txBox="1">
            <a:spLocks noGrp="1"/>
          </p:cNvSpPr>
          <p:nvPr>
            <p:ph type="subTitle" idx="8"/>
          </p:nvPr>
        </p:nvSpPr>
        <p:spPr>
          <a:xfrm>
            <a:off x="4656875" y="2846275"/>
            <a:ext cx="3767100" cy="44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600" b="1">
                <a:solidFill>
                  <a:schemeClr val="dk1"/>
                </a:solidFill>
                <a:latin typeface="Outfit"/>
                <a:ea typeface="Outfit"/>
                <a:cs typeface="Outfit"/>
                <a:sym typeface="Outfit"/>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1"/>
        <p:cNvGrpSpPr/>
        <p:nvPr/>
      </p:nvGrpSpPr>
      <p:grpSpPr>
        <a:xfrm>
          <a:off x="0" y="0"/>
          <a:ext cx="0" cy="0"/>
          <a:chOff x="0" y="0"/>
          <a:chExt cx="0" cy="0"/>
        </a:xfrm>
      </p:grpSpPr>
      <p:pic>
        <p:nvPicPr>
          <p:cNvPr id="102" name="Google Shape;102;p20"/>
          <p:cNvPicPr preferRelativeResize="0"/>
          <p:nvPr/>
        </p:nvPicPr>
        <p:blipFill rotWithShape="1">
          <a:blip r:embed="rId2">
            <a:alphaModFix/>
          </a:blip>
          <a:srcRect l="29903" b="55814"/>
          <a:stretch/>
        </p:blipFill>
        <p:spPr>
          <a:xfrm rot="5400000" flipH="1">
            <a:off x="-874697" y="1435725"/>
            <a:ext cx="4548450" cy="28671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03"/>
        <p:cNvGrpSpPr/>
        <p:nvPr/>
      </p:nvGrpSpPr>
      <p:grpSpPr>
        <a:xfrm>
          <a:off x="0" y="0"/>
          <a:ext cx="0" cy="0"/>
          <a:chOff x="0" y="0"/>
          <a:chExt cx="0" cy="0"/>
        </a:xfrm>
      </p:grpSpPr>
      <p:pic>
        <p:nvPicPr>
          <p:cNvPr id="104" name="Google Shape;104;p21"/>
          <p:cNvPicPr preferRelativeResize="0"/>
          <p:nvPr/>
        </p:nvPicPr>
        <p:blipFill rotWithShape="1">
          <a:blip r:embed="rId2">
            <a:alphaModFix/>
          </a:blip>
          <a:srcRect l="29903" b="52159"/>
          <a:stretch/>
        </p:blipFill>
        <p:spPr>
          <a:xfrm rot="-5400000" flipH="1">
            <a:off x="5317650" y="722087"/>
            <a:ext cx="4548450" cy="310427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Outfit"/>
              <a:buNone/>
              <a:defRPr sz="2600" b="1">
                <a:solidFill>
                  <a:schemeClr val="dk1"/>
                </a:solidFill>
                <a:latin typeface="Outfit"/>
                <a:ea typeface="Outfit"/>
                <a:cs typeface="Outfit"/>
                <a:sym typeface="Outfit"/>
              </a:defRPr>
            </a:lvl1pPr>
            <a:lvl2pPr lvl="1"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2pPr>
            <a:lvl3pPr lvl="2"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3pPr>
            <a:lvl4pPr lvl="3"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4pPr>
            <a:lvl5pPr lvl="4"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5pPr>
            <a:lvl6pPr lvl="5"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6pPr>
            <a:lvl7pPr lvl="6"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7pPr>
            <a:lvl8pPr lvl="7"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8pPr>
            <a:lvl9pPr lvl="8" rtl="0">
              <a:spcBef>
                <a:spcPts val="0"/>
              </a:spcBef>
              <a:spcAft>
                <a:spcPts val="0"/>
              </a:spcAft>
              <a:buClr>
                <a:schemeClr val="dk1"/>
              </a:buClr>
              <a:buSzPts val="3500"/>
              <a:buFont typeface="Outfit"/>
              <a:buNone/>
              <a:defRPr sz="3500" b="1">
                <a:solidFill>
                  <a:schemeClr val="dk1"/>
                </a:solidFill>
                <a:latin typeface="Outfit"/>
                <a:ea typeface="Outfit"/>
                <a:cs typeface="Outfit"/>
                <a:sym typeface="Outfi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marL="914400" lvl="1"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marL="1371600" lvl="2"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marL="1828800" lvl="3"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marL="2286000" lvl="4"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marL="2743200" lvl="5"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marL="3200400" lvl="6"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marL="3657600" lvl="7"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marL="4114800" lvl="8" indent="-30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8" r:id="rId9"/>
    <p:sldLayoutId id="2147483659" r:id="rId10"/>
    <p:sldLayoutId id="2147483660" r:id="rId11"/>
    <p:sldLayoutId id="2147483661" r:id="rId12"/>
    <p:sldLayoutId id="2147483662" r:id="rId13"/>
    <p:sldLayoutId id="2147483663" r:id="rId14"/>
    <p:sldLayoutId id="2147483664" r:id="rId15"/>
    <p:sldLayoutId id="2147483666" r:id="rId16"/>
    <p:sldLayoutId id="2147483667"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who.int/"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hyperlink" Target="https://www.raspberrypi.org/" TargetMode="External"/><Relationship Id="rId5" Type="http://schemas.openxmlformats.org/officeDocument/2006/relationships/hyperlink" Target="https://www.arduino.cc/" TargetMode="External"/><Relationship Id="rId4" Type="http://schemas.openxmlformats.org/officeDocument/2006/relationships/hyperlink" Target="https://www.disabilityaffairs.gov.in/"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6"/>
          <p:cNvSpPr txBox="1">
            <a:spLocks noGrp="1"/>
          </p:cNvSpPr>
          <p:nvPr>
            <p:ph type="ctrTitle"/>
          </p:nvPr>
        </p:nvSpPr>
        <p:spPr>
          <a:xfrm>
            <a:off x="713225" y="766172"/>
            <a:ext cx="6234900" cy="92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Smart Blind Stick</a:t>
            </a:r>
            <a:endParaRPr dirty="0"/>
          </a:p>
        </p:txBody>
      </p:sp>
      <p:sp>
        <p:nvSpPr>
          <p:cNvPr id="121" name="Google Shape;121;p26"/>
          <p:cNvSpPr txBox="1">
            <a:spLocks noGrp="1"/>
          </p:cNvSpPr>
          <p:nvPr>
            <p:ph type="subTitle" idx="1"/>
          </p:nvPr>
        </p:nvSpPr>
        <p:spPr>
          <a:xfrm>
            <a:off x="713225" y="2159250"/>
            <a:ext cx="6234900" cy="41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t>Project Submitted By:</a:t>
            </a:r>
            <a:endParaRPr sz="1800" b="1" dirty="0"/>
          </a:p>
        </p:txBody>
      </p:sp>
      <p:cxnSp>
        <p:nvCxnSpPr>
          <p:cNvPr id="122" name="Google Shape;122;p26"/>
          <p:cNvCxnSpPr/>
          <p:nvPr/>
        </p:nvCxnSpPr>
        <p:spPr>
          <a:xfrm>
            <a:off x="713225" y="1946538"/>
            <a:ext cx="7717500" cy="0"/>
          </a:xfrm>
          <a:prstGeom prst="straightConnector1">
            <a:avLst/>
          </a:prstGeom>
          <a:noFill/>
          <a:ln w="19050" cap="flat" cmpd="sng">
            <a:solidFill>
              <a:schemeClr val="dk1"/>
            </a:solidFill>
            <a:prstDash val="solid"/>
            <a:round/>
            <a:headEnd type="none" w="med" len="med"/>
            <a:tailEnd type="none" w="med" len="med"/>
          </a:ln>
        </p:spPr>
      </p:cxnSp>
      <p:sp>
        <p:nvSpPr>
          <p:cNvPr id="123" name="Google Shape;123;p26"/>
          <p:cNvSpPr txBox="1">
            <a:spLocks noGrp="1"/>
          </p:cNvSpPr>
          <p:nvPr>
            <p:ph type="subTitle" idx="4294967295"/>
          </p:nvPr>
        </p:nvSpPr>
        <p:spPr>
          <a:xfrm>
            <a:off x="713225" y="2676673"/>
            <a:ext cx="4189975" cy="160234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sz="1600" b="0" i="0" u="none" strike="noStrike" dirty="0" err="1">
                <a:solidFill>
                  <a:srgbClr val="000000"/>
                </a:solidFill>
                <a:effectLst/>
                <a:latin typeface="Trebuchet MS" panose="020B0603020202020204" pitchFamily="34" charset="0"/>
              </a:rPr>
              <a:t>Lipsalina</a:t>
            </a:r>
            <a:r>
              <a:rPr lang="en-IN" sz="1600" b="0" i="0" u="none" strike="noStrike" dirty="0">
                <a:solidFill>
                  <a:srgbClr val="000000"/>
                </a:solidFill>
                <a:effectLst/>
                <a:latin typeface="Trebuchet MS" panose="020B0603020202020204" pitchFamily="34" charset="0"/>
              </a:rPr>
              <a:t> Giri [2101229092]</a:t>
            </a:r>
          </a:p>
          <a:p>
            <a:pPr marL="0" lvl="0" indent="0" algn="l" rtl="0">
              <a:spcBef>
                <a:spcPts val="0"/>
              </a:spcBef>
              <a:spcAft>
                <a:spcPts val="0"/>
              </a:spcAft>
              <a:buNone/>
            </a:pPr>
            <a:r>
              <a:rPr lang="en-IN" sz="1600" b="0" i="0" u="none" strike="noStrike" dirty="0">
                <a:solidFill>
                  <a:srgbClr val="000000"/>
                </a:solidFill>
                <a:effectLst/>
                <a:latin typeface="Trebuchet MS" panose="020B0603020202020204" pitchFamily="34" charset="0"/>
              </a:rPr>
              <a:t>Nitish Kumar [2101229104]</a:t>
            </a:r>
          </a:p>
          <a:p>
            <a:pPr marL="0" lvl="0" indent="0" algn="l" rtl="0">
              <a:spcBef>
                <a:spcPts val="0"/>
              </a:spcBef>
              <a:spcAft>
                <a:spcPts val="0"/>
              </a:spcAft>
              <a:buNone/>
            </a:pPr>
            <a:r>
              <a:rPr lang="en-IN" sz="1600" b="0" i="0" u="none" strike="noStrike" dirty="0">
                <a:solidFill>
                  <a:srgbClr val="000000"/>
                </a:solidFill>
                <a:effectLst/>
                <a:latin typeface="Trebuchet MS" panose="020B0603020202020204" pitchFamily="34" charset="0"/>
              </a:rPr>
              <a:t>Santanu Kumar Mohapatra [2101229132]</a:t>
            </a:r>
          </a:p>
          <a:p>
            <a:pPr marL="0" lvl="0" indent="0" algn="l" rtl="0">
              <a:spcBef>
                <a:spcPts val="0"/>
              </a:spcBef>
              <a:spcAft>
                <a:spcPts val="0"/>
              </a:spcAft>
              <a:buNone/>
            </a:pPr>
            <a:r>
              <a:rPr lang="en-IN" sz="1600" b="0" i="0" u="none" strike="noStrike" dirty="0" err="1">
                <a:solidFill>
                  <a:srgbClr val="000000"/>
                </a:solidFill>
                <a:effectLst/>
                <a:latin typeface="Trebuchet MS" panose="020B0603020202020204" pitchFamily="34" charset="0"/>
              </a:rPr>
              <a:t>Sashibhusan</a:t>
            </a:r>
            <a:r>
              <a:rPr lang="en-IN" sz="1600" b="0" i="0" u="none" strike="noStrike" dirty="0">
                <a:solidFill>
                  <a:srgbClr val="000000"/>
                </a:solidFill>
                <a:effectLst/>
                <a:latin typeface="Trebuchet MS" panose="020B0603020202020204" pitchFamily="34" charset="0"/>
              </a:rPr>
              <a:t> Khatua [2101229137]</a:t>
            </a:r>
            <a:endParaRPr lang="en-IN" sz="1600" dirty="0">
              <a:solidFill>
                <a:srgbClr val="000000"/>
              </a:solidFill>
              <a:latin typeface="Trebuchet MS" panose="020B0603020202020204" pitchFamily="34" charset="0"/>
            </a:endParaRPr>
          </a:p>
          <a:p>
            <a:pPr marL="0" lvl="0" indent="0" algn="l" rtl="0">
              <a:spcBef>
                <a:spcPts val="0"/>
              </a:spcBef>
              <a:spcAft>
                <a:spcPts val="0"/>
              </a:spcAft>
              <a:buNone/>
            </a:pPr>
            <a:r>
              <a:rPr lang="en-IN" sz="1600" b="0" i="0" u="none" strike="noStrike" dirty="0">
                <a:solidFill>
                  <a:srgbClr val="000000"/>
                </a:solidFill>
                <a:effectLst/>
                <a:latin typeface="Trebuchet MS" panose="020B0603020202020204" pitchFamily="34" charset="0"/>
              </a:rPr>
              <a:t>Saumya Subham Mishra [2101229147]</a:t>
            </a:r>
            <a:endParaRPr lang="en-IN" sz="1600" dirty="0">
              <a:solidFill>
                <a:srgbClr val="000000"/>
              </a:solidFill>
              <a:latin typeface="Trebuchet MS" panose="020B0603020202020204" pitchFamily="34" charset="0"/>
            </a:endParaRPr>
          </a:p>
          <a:p>
            <a:pPr marL="0" lvl="0" indent="0" algn="l" rtl="0">
              <a:spcBef>
                <a:spcPts val="0"/>
              </a:spcBef>
              <a:spcAft>
                <a:spcPts val="0"/>
              </a:spcAft>
              <a:buNone/>
            </a:pPr>
            <a:endParaRPr i="1" dirty="0"/>
          </a:p>
        </p:txBody>
      </p:sp>
      <p:cxnSp>
        <p:nvCxnSpPr>
          <p:cNvPr id="124" name="Google Shape;124;p26"/>
          <p:cNvCxnSpPr/>
          <p:nvPr/>
        </p:nvCxnSpPr>
        <p:spPr>
          <a:xfrm>
            <a:off x="814175" y="4820825"/>
            <a:ext cx="3757800" cy="0"/>
          </a:xfrm>
          <a:prstGeom prst="straightConnector1">
            <a:avLst/>
          </a:prstGeom>
          <a:noFill/>
          <a:ln w="19050" cap="flat" cmpd="sng">
            <a:solidFill>
              <a:schemeClr val="dk1"/>
            </a:solidFill>
            <a:prstDash val="solid"/>
            <a:round/>
            <a:headEnd type="none" w="med" len="med"/>
            <a:tailEnd type="none" w="med" len="med"/>
          </a:ln>
        </p:spPr>
      </p:cxnSp>
      <p:pic>
        <p:nvPicPr>
          <p:cNvPr id="2" name="Picture 1">
            <a:extLst>
              <a:ext uri="{FF2B5EF4-FFF2-40B4-BE49-F238E27FC236}">
                <a16:creationId xmlns:a16="http://schemas.microsoft.com/office/drawing/2014/main" id="{7F59DDEC-9521-A034-BC52-63F03D192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1801" y="130116"/>
            <a:ext cx="3674199" cy="471633"/>
          </a:xfrm>
          <a:prstGeom prst="rect">
            <a:avLst/>
          </a:prstGeom>
        </p:spPr>
      </p:pic>
      <p:sp>
        <p:nvSpPr>
          <p:cNvPr id="3" name="TextBox 2">
            <a:extLst>
              <a:ext uri="{FF2B5EF4-FFF2-40B4-BE49-F238E27FC236}">
                <a16:creationId xmlns:a16="http://schemas.microsoft.com/office/drawing/2014/main" id="{8FC3E899-B410-F90C-EBB5-46953066666B}"/>
              </a:ext>
            </a:extLst>
          </p:cNvPr>
          <p:cNvSpPr txBox="1"/>
          <p:nvPr/>
        </p:nvSpPr>
        <p:spPr>
          <a:xfrm>
            <a:off x="5608924" y="4269600"/>
            <a:ext cx="3117476" cy="323165"/>
          </a:xfrm>
          <a:prstGeom prst="rect">
            <a:avLst/>
          </a:prstGeom>
          <a:noFill/>
        </p:spPr>
        <p:txBody>
          <a:bodyPr wrap="square" rtlCol="0">
            <a:spAutoFit/>
          </a:bodyPr>
          <a:lstStyle/>
          <a:p>
            <a:r>
              <a:rPr lang="en-GB" sz="1500" dirty="0">
                <a:latin typeface="Outfit" panose="020B0604020202020204" charset="0"/>
              </a:rPr>
              <a:t>Guided By: </a:t>
            </a:r>
            <a:r>
              <a:rPr lang="en-GB" sz="1500" b="1" dirty="0">
                <a:latin typeface="Outfit" panose="020B0604020202020204" charset="0"/>
              </a:rPr>
              <a:t>Prof. Raghunath Rout</a:t>
            </a:r>
            <a:endParaRPr lang="en-IN" sz="1500" b="1" dirty="0">
              <a:latin typeface="Outfit" panose="020B0604020202020204" charset="0"/>
            </a:endParaRPr>
          </a:p>
        </p:txBody>
      </p:sp>
      <p:sp>
        <p:nvSpPr>
          <p:cNvPr id="4" name="Google Shape;123;p26">
            <a:extLst>
              <a:ext uri="{FF2B5EF4-FFF2-40B4-BE49-F238E27FC236}">
                <a16:creationId xmlns:a16="http://schemas.microsoft.com/office/drawing/2014/main" id="{BAD47171-D4CE-D2B1-AC9B-51FDE28251EE}"/>
              </a:ext>
            </a:extLst>
          </p:cNvPr>
          <p:cNvSpPr txBox="1">
            <a:spLocks/>
          </p:cNvSpPr>
          <p:nvPr/>
        </p:nvSpPr>
        <p:spPr>
          <a:xfrm>
            <a:off x="4954025" y="2676673"/>
            <a:ext cx="4189975" cy="160234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rimo"/>
              <a:buChar char="●"/>
              <a:defRPr sz="1200" b="0" i="0" u="none" strike="noStrike" cap="none">
                <a:solidFill>
                  <a:schemeClr val="dk1"/>
                </a:solidFill>
                <a:latin typeface="Arimo"/>
                <a:ea typeface="Arimo"/>
                <a:cs typeface="Arimo"/>
                <a:sym typeface="Arimo"/>
              </a:defRPr>
            </a:lvl1pPr>
            <a:lvl2pPr marL="914400" marR="0" lvl="1" indent="-304800" algn="l" rtl="0">
              <a:lnSpc>
                <a:spcPct val="100000"/>
              </a:lnSpc>
              <a:spcBef>
                <a:spcPts val="0"/>
              </a:spcBef>
              <a:spcAft>
                <a:spcPts val="0"/>
              </a:spcAft>
              <a:buClr>
                <a:schemeClr val="dk1"/>
              </a:buClr>
              <a:buSzPts val="1200"/>
              <a:buFont typeface="Arimo"/>
              <a:buChar char="○"/>
              <a:defRPr sz="1200" b="0" i="0" u="none" strike="noStrike" cap="none">
                <a:solidFill>
                  <a:schemeClr val="dk1"/>
                </a:solidFill>
                <a:latin typeface="Arimo"/>
                <a:ea typeface="Arimo"/>
                <a:cs typeface="Arimo"/>
                <a:sym typeface="Arimo"/>
              </a:defRPr>
            </a:lvl2pPr>
            <a:lvl3pPr marL="1371600" marR="0" lvl="2" indent="-304800" algn="l" rtl="0">
              <a:lnSpc>
                <a:spcPct val="100000"/>
              </a:lnSpc>
              <a:spcBef>
                <a:spcPts val="0"/>
              </a:spcBef>
              <a:spcAft>
                <a:spcPts val="0"/>
              </a:spcAft>
              <a:buClr>
                <a:schemeClr val="dk1"/>
              </a:buClr>
              <a:buSzPts val="1200"/>
              <a:buFont typeface="Arimo"/>
              <a:buChar char="■"/>
              <a:defRPr sz="1200" b="0" i="0" u="none" strike="noStrike" cap="none">
                <a:solidFill>
                  <a:schemeClr val="dk1"/>
                </a:solidFill>
                <a:latin typeface="Arimo"/>
                <a:ea typeface="Arimo"/>
                <a:cs typeface="Arimo"/>
                <a:sym typeface="Arimo"/>
              </a:defRPr>
            </a:lvl3pPr>
            <a:lvl4pPr marL="1828800" marR="0" lvl="3" indent="-304800" algn="l" rtl="0">
              <a:lnSpc>
                <a:spcPct val="100000"/>
              </a:lnSpc>
              <a:spcBef>
                <a:spcPts val="0"/>
              </a:spcBef>
              <a:spcAft>
                <a:spcPts val="0"/>
              </a:spcAft>
              <a:buClr>
                <a:schemeClr val="dk1"/>
              </a:buClr>
              <a:buSzPts val="1200"/>
              <a:buFont typeface="Arimo"/>
              <a:buChar char="●"/>
              <a:defRPr sz="1200" b="0" i="0" u="none" strike="noStrike" cap="none">
                <a:solidFill>
                  <a:schemeClr val="dk1"/>
                </a:solidFill>
                <a:latin typeface="Arimo"/>
                <a:ea typeface="Arimo"/>
                <a:cs typeface="Arimo"/>
                <a:sym typeface="Arimo"/>
              </a:defRPr>
            </a:lvl4pPr>
            <a:lvl5pPr marL="2286000" marR="0" lvl="4" indent="-304800" algn="l" rtl="0">
              <a:lnSpc>
                <a:spcPct val="100000"/>
              </a:lnSpc>
              <a:spcBef>
                <a:spcPts val="0"/>
              </a:spcBef>
              <a:spcAft>
                <a:spcPts val="0"/>
              </a:spcAft>
              <a:buClr>
                <a:schemeClr val="dk1"/>
              </a:buClr>
              <a:buSzPts val="1200"/>
              <a:buFont typeface="Arimo"/>
              <a:buChar char="○"/>
              <a:defRPr sz="1200" b="0" i="0" u="none" strike="noStrike" cap="none">
                <a:solidFill>
                  <a:schemeClr val="dk1"/>
                </a:solidFill>
                <a:latin typeface="Arimo"/>
                <a:ea typeface="Arimo"/>
                <a:cs typeface="Arimo"/>
                <a:sym typeface="Arimo"/>
              </a:defRPr>
            </a:lvl5pPr>
            <a:lvl6pPr marL="2743200" marR="0" lvl="5" indent="-304800" algn="l" rtl="0">
              <a:lnSpc>
                <a:spcPct val="100000"/>
              </a:lnSpc>
              <a:spcBef>
                <a:spcPts val="0"/>
              </a:spcBef>
              <a:spcAft>
                <a:spcPts val="0"/>
              </a:spcAft>
              <a:buClr>
                <a:schemeClr val="dk1"/>
              </a:buClr>
              <a:buSzPts val="1200"/>
              <a:buFont typeface="Arimo"/>
              <a:buChar char="■"/>
              <a:defRPr sz="1200" b="0" i="0" u="none" strike="noStrike" cap="none">
                <a:solidFill>
                  <a:schemeClr val="dk1"/>
                </a:solidFill>
                <a:latin typeface="Arimo"/>
                <a:ea typeface="Arimo"/>
                <a:cs typeface="Arimo"/>
                <a:sym typeface="Arimo"/>
              </a:defRPr>
            </a:lvl6pPr>
            <a:lvl7pPr marL="3200400" marR="0" lvl="6" indent="-304800" algn="l" rtl="0">
              <a:lnSpc>
                <a:spcPct val="100000"/>
              </a:lnSpc>
              <a:spcBef>
                <a:spcPts val="0"/>
              </a:spcBef>
              <a:spcAft>
                <a:spcPts val="0"/>
              </a:spcAft>
              <a:buClr>
                <a:schemeClr val="dk1"/>
              </a:buClr>
              <a:buSzPts val="1200"/>
              <a:buFont typeface="Arimo"/>
              <a:buChar char="●"/>
              <a:defRPr sz="1200" b="0" i="0" u="none" strike="noStrike" cap="none">
                <a:solidFill>
                  <a:schemeClr val="dk1"/>
                </a:solidFill>
                <a:latin typeface="Arimo"/>
                <a:ea typeface="Arimo"/>
                <a:cs typeface="Arimo"/>
                <a:sym typeface="Arimo"/>
              </a:defRPr>
            </a:lvl7pPr>
            <a:lvl8pPr marL="3657600" marR="0" lvl="7" indent="-304800" algn="l" rtl="0">
              <a:lnSpc>
                <a:spcPct val="100000"/>
              </a:lnSpc>
              <a:spcBef>
                <a:spcPts val="0"/>
              </a:spcBef>
              <a:spcAft>
                <a:spcPts val="0"/>
              </a:spcAft>
              <a:buClr>
                <a:schemeClr val="dk1"/>
              </a:buClr>
              <a:buSzPts val="1200"/>
              <a:buFont typeface="Arimo"/>
              <a:buChar char="○"/>
              <a:defRPr sz="1200" b="0" i="0" u="none" strike="noStrike" cap="none">
                <a:solidFill>
                  <a:schemeClr val="dk1"/>
                </a:solidFill>
                <a:latin typeface="Arimo"/>
                <a:ea typeface="Arimo"/>
                <a:cs typeface="Arimo"/>
                <a:sym typeface="Arimo"/>
              </a:defRPr>
            </a:lvl8pPr>
            <a:lvl9pPr marL="4114800" marR="0" lvl="8" indent="-304800" algn="l" rtl="0">
              <a:lnSpc>
                <a:spcPct val="100000"/>
              </a:lnSpc>
              <a:spcBef>
                <a:spcPts val="0"/>
              </a:spcBef>
              <a:spcAft>
                <a:spcPts val="0"/>
              </a:spcAft>
              <a:buClr>
                <a:schemeClr val="dk1"/>
              </a:buClr>
              <a:buSzPts val="1200"/>
              <a:buFont typeface="Arimo"/>
              <a:buChar char="■"/>
              <a:defRPr sz="1200" b="0" i="0" u="none" strike="noStrike" cap="none">
                <a:solidFill>
                  <a:schemeClr val="dk1"/>
                </a:solidFill>
                <a:latin typeface="Arimo"/>
                <a:ea typeface="Arimo"/>
                <a:cs typeface="Arimo"/>
                <a:sym typeface="Arimo"/>
              </a:defRPr>
            </a:lvl9pPr>
          </a:lstStyle>
          <a:p>
            <a:pPr marL="0" indent="0">
              <a:buFont typeface="Arimo"/>
              <a:buNone/>
            </a:pPr>
            <a:r>
              <a:rPr lang="en-IN" sz="1600" dirty="0">
                <a:solidFill>
                  <a:srgbClr val="000000"/>
                </a:solidFill>
                <a:latin typeface="Trebuchet MS" panose="020B0603020202020204" pitchFamily="34" charset="0"/>
              </a:rPr>
              <a:t>            [CSE]</a:t>
            </a:r>
          </a:p>
          <a:p>
            <a:pPr marL="0" indent="0">
              <a:buFont typeface="Arimo"/>
              <a:buNone/>
            </a:pPr>
            <a:r>
              <a:rPr lang="en-IN" sz="1600" dirty="0">
                <a:solidFill>
                  <a:srgbClr val="000000"/>
                </a:solidFill>
                <a:latin typeface="Trebuchet MS" panose="020B0603020202020204" pitchFamily="34" charset="0"/>
              </a:rPr>
              <a:t>            [CSE]</a:t>
            </a:r>
          </a:p>
          <a:p>
            <a:pPr marL="0" indent="0">
              <a:buFont typeface="Arimo"/>
              <a:buNone/>
            </a:pPr>
            <a:r>
              <a:rPr lang="en-IN" sz="1600" dirty="0">
                <a:solidFill>
                  <a:srgbClr val="000000"/>
                </a:solidFill>
                <a:latin typeface="Trebuchet MS" panose="020B0603020202020204" pitchFamily="34" charset="0"/>
              </a:rPr>
              <a:t>            [CSE]</a:t>
            </a:r>
          </a:p>
          <a:p>
            <a:pPr marL="0" indent="0">
              <a:buFont typeface="Arimo"/>
              <a:buNone/>
            </a:pPr>
            <a:r>
              <a:rPr lang="en-IN" sz="1600" dirty="0">
                <a:solidFill>
                  <a:srgbClr val="000000"/>
                </a:solidFill>
                <a:latin typeface="Trebuchet MS" panose="020B0603020202020204" pitchFamily="34" charset="0"/>
              </a:rPr>
              <a:t>            [CSE]</a:t>
            </a:r>
          </a:p>
          <a:p>
            <a:pPr marL="0" indent="0">
              <a:buFont typeface="Arimo"/>
              <a:buNone/>
            </a:pPr>
            <a:r>
              <a:rPr lang="en-IN" sz="1600" dirty="0">
                <a:solidFill>
                  <a:srgbClr val="000000"/>
                </a:solidFill>
                <a:latin typeface="Trebuchet MS" panose="020B0603020202020204" pitchFamily="34" charset="0"/>
              </a:rPr>
              <a:t>            [CSE]</a:t>
            </a:r>
          </a:p>
          <a:p>
            <a:pPr marL="0" indent="0">
              <a:buFont typeface="Arimo"/>
              <a:buNone/>
            </a:pPr>
            <a:endParaRPr lang="en-IN"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60403-DB38-B461-17BC-1D2C2A55A576}"/>
              </a:ext>
            </a:extLst>
          </p:cNvPr>
          <p:cNvSpPr>
            <a:spLocks noGrp="1"/>
          </p:cNvSpPr>
          <p:nvPr>
            <p:ph type="title"/>
          </p:nvPr>
        </p:nvSpPr>
        <p:spPr>
          <a:xfrm>
            <a:off x="3090665" y="2198755"/>
            <a:ext cx="5675383" cy="2352865"/>
          </a:xfrm>
        </p:spPr>
        <p:txBody>
          <a:bodyPr/>
          <a:lstStyle/>
          <a:p>
            <a:pPr algn="just" rtl="0" fontAlgn="base">
              <a:lnSpc>
                <a:spcPct val="150000"/>
              </a:lnSpc>
              <a:spcBef>
                <a:spcPts val="1000"/>
              </a:spcBef>
            </a:pPr>
            <a:r>
              <a:rPr lang="en-GB" sz="1400" i="0" u="none" strike="noStrike" dirty="0">
                <a:solidFill>
                  <a:srgbClr val="000000"/>
                </a:solidFill>
                <a:effectLst/>
                <a:latin typeface="Arimo" panose="020B0604020202020204" charset="0"/>
                <a:ea typeface="Arimo" panose="020B0604020202020204" charset="0"/>
                <a:cs typeface="Arimo" panose="020B0604020202020204" charset="0"/>
              </a:rPr>
              <a:t>Assistive technologies</a:t>
            </a:r>
            <a:r>
              <a:rPr lang="en-GB" sz="1400" b="0" i="0" u="none" strike="noStrike" dirty="0">
                <a:solidFill>
                  <a:srgbClr val="000000"/>
                </a:solidFill>
                <a:effectLst/>
                <a:latin typeface="Arimo" panose="020B0604020202020204" charset="0"/>
                <a:ea typeface="Arimo" panose="020B0604020202020204" charset="0"/>
                <a:cs typeface="Arimo" panose="020B0604020202020204" charset="0"/>
              </a:rPr>
              <a:t> play a vital role in empowering visually impaired individuals, promoting independence and mobility.</a:t>
            </a:r>
            <a:br>
              <a:rPr lang="en-GB" sz="1400" b="0" i="0" u="none" strike="noStrike" dirty="0">
                <a:solidFill>
                  <a:srgbClr val="000000"/>
                </a:solidFill>
                <a:effectLst/>
                <a:latin typeface="Arimo" panose="020B0604020202020204" charset="0"/>
                <a:ea typeface="Arimo" panose="020B0604020202020204" charset="0"/>
                <a:cs typeface="Arimo" panose="020B0604020202020204" charset="0"/>
              </a:rPr>
            </a:br>
            <a:r>
              <a:rPr lang="en-GB" sz="1400" b="0" i="0" u="none" strike="noStrike" dirty="0">
                <a:solidFill>
                  <a:srgbClr val="000000"/>
                </a:solidFill>
                <a:effectLst/>
                <a:latin typeface="Arimo" panose="020B0604020202020204" charset="0"/>
                <a:ea typeface="Arimo" panose="020B0604020202020204" charset="0"/>
                <a:cs typeface="Arimo" panose="020B0604020202020204" charset="0"/>
              </a:rPr>
              <a:t>From simple tools like traditional white canes to modern electronic systems, these technologies constantly evolve to meet diverse needs.</a:t>
            </a:r>
            <a:br>
              <a:rPr lang="en-GB" sz="1400" b="0" i="0" u="none" strike="noStrike" dirty="0">
                <a:solidFill>
                  <a:srgbClr val="000000"/>
                </a:solidFill>
                <a:effectLst/>
                <a:latin typeface="Arimo" panose="020B0604020202020204" charset="0"/>
                <a:ea typeface="Arimo" panose="020B0604020202020204" charset="0"/>
                <a:cs typeface="Arimo" panose="020B0604020202020204" charset="0"/>
              </a:rPr>
            </a:br>
            <a:r>
              <a:rPr lang="en-GB" sz="1400" b="0" i="0" u="none" strike="noStrike" dirty="0">
                <a:solidFill>
                  <a:srgbClr val="000000"/>
                </a:solidFill>
                <a:effectLst/>
                <a:latin typeface="Arimo" panose="020B0604020202020204" charset="0"/>
                <a:ea typeface="Arimo" panose="020B0604020202020204" charset="0"/>
                <a:cs typeface="Arimo" panose="020B0604020202020204" charset="0"/>
              </a:rPr>
              <a:t>This evolution reflects the ongoing effort to integrate technology and enhance the daily lives of visually impaired people.</a:t>
            </a:r>
            <a:br>
              <a:rPr lang="en-GB" sz="1800" b="0" i="0" u="none" strike="noStrike" dirty="0">
                <a:solidFill>
                  <a:srgbClr val="000000"/>
                </a:solidFill>
                <a:effectLst/>
                <a:latin typeface="+mn-lt"/>
              </a:rPr>
            </a:br>
            <a:endParaRPr lang="en-IN" dirty="0">
              <a:latin typeface="+mn-lt"/>
            </a:endParaRPr>
          </a:p>
        </p:txBody>
      </p:sp>
      <p:sp>
        <p:nvSpPr>
          <p:cNvPr id="3" name="Title 2">
            <a:extLst>
              <a:ext uri="{FF2B5EF4-FFF2-40B4-BE49-F238E27FC236}">
                <a16:creationId xmlns:a16="http://schemas.microsoft.com/office/drawing/2014/main" id="{03C49225-3B77-C855-3BDB-F47BC9A9564C}"/>
              </a:ext>
            </a:extLst>
          </p:cNvPr>
          <p:cNvSpPr>
            <a:spLocks noGrp="1"/>
          </p:cNvSpPr>
          <p:nvPr>
            <p:ph type="title" idx="2"/>
          </p:nvPr>
        </p:nvSpPr>
        <p:spPr>
          <a:xfrm>
            <a:off x="713225" y="591880"/>
            <a:ext cx="6931160" cy="915900"/>
          </a:xfrm>
        </p:spPr>
        <p:txBody>
          <a:bodyPr/>
          <a:lstStyle/>
          <a:p>
            <a:r>
              <a:rPr lang="en-GB" sz="4400" dirty="0"/>
              <a:t>INTRODUCTION</a:t>
            </a:r>
            <a:endParaRPr lang="en-IN" sz="4400" dirty="0"/>
          </a:p>
        </p:txBody>
      </p:sp>
    </p:spTree>
    <p:extLst>
      <p:ext uri="{BB962C8B-B14F-4D97-AF65-F5344CB8AC3E}">
        <p14:creationId xmlns:p14="http://schemas.microsoft.com/office/powerpoint/2010/main" val="3045388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713224" y="2656851"/>
            <a:ext cx="5809496" cy="1859997"/>
          </a:xfrm>
          <a:prstGeom prst="rect">
            <a:avLst/>
          </a:prstGeom>
        </p:spPr>
        <p:txBody>
          <a:bodyPr spcFirstLastPara="1" wrap="square" lIns="91425" tIns="91425" rIns="91425" bIns="91425" anchor="t" anchorCtr="0">
            <a:noAutofit/>
          </a:bodyPr>
          <a:lstStyle/>
          <a:p>
            <a:pPr algn="just" rtl="0" fontAlgn="base">
              <a:lnSpc>
                <a:spcPct val="150000"/>
              </a:lnSpc>
              <a:spcBef>
                <a:spcPts val="1000"/>
              </a:spcBef>
            </a:pPr>
            <a:r>
              <a:rPr lang="en-GB" sz="1400" b="0" dirty="0">
                <a:latin typeface="Arimo" panose="020B0604020202020204" charset="0"/>
                <a:ea typeface="Arimo" panose="020B0604020202020204" charset="0"/>
                <a:cs typeface="Arimo" panose="020B0604020202020204" charset="0"/>
              </a:rPr>
              <a:t>Visually impaired individuals face significant challenges in navigating their surroundings safely and independently. Traditional mobility aids like canes provide limited feedback, mainly through physical contact with obstacles. However, they do not offer proactive detection of hazards such as potholes, moving objects, or elevated obstacles.</a:t>
            </a:r>
            <a:endParaRPr sz="6600" b="0" dirty="0">
              <a:latin typeface="Arimo" panose="020B0604020202020204" charset="0"/>
              <a:ea typeface="Arimo" panose="020B0604020202020204" charset="0"/>
              <a:cs typeface="Arimo" panose="020B0604020202020204" charset="0"/>
            </a:endParaRPr>
          </a:p>
        </p:txBody>
      </p:sp>
      <p:sp>
        <p:nvSpPr>
          <p:cNvPr id="158" name="Google Shape;158;p29"/>
          <p:cNvSpPr txBox="1">
            <a:spLocks noGrp="1"/>
          </p:cNvSpPr>
          <p:nvPr>
            <p:ph type="title" idx="2"/>
          </p:nvPr>
        </p:nvSpPr>
        <p:spPr>
          <a:xfrm>
            <a:off x="713224" y="1653800"/>
            <a:ext cx="5516888"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The Problem</a:t>
            </a:r>
            <a:endParaRPr dirty="0"/>
          </a:p>
        </p:txBody>
      </p:sp>
      <p:cxnSp>
        <p:nvCxnSpPr>
          <p:cNvPr id="159" name="Google Shape;159;p29"/>
          <p:cNvCxnSpPr/>
          <p:nvPr/>
        </p:nvCxnSpPr>
        <p:spPr>
          <a:xfrm>
            <a:off x="713225" y="4604000"/>
            <a:ext cx="7684800" cy="0"/>
          </a:xfrm>
          <a:prstGeom prst="straightConnector1">
            <a:avLst/>
          </a:prstGeom>
          <a:noFill/>
          <a:ln w="19050" cap="flat" cmpd="sng">
            <a:solidFill>
              <a:schemeClr val="dk1"/>
            </a:solidFill>
            <a:prstDash val="solid"/>
            <a:round/>
            <a:headEnd type="none" w="med" len="med"/>
            <a:tailEnd type="none" w="med" len="med"/>
          </a:ln>
        </p:spPr>
      </p:cxnSp>
      <p:cxnSp>
        <p:nvCxnSpPr>
          <p:cNvPr id="160" name="Google Shape;160;p29"/>
          <p:cNvCxnSpPr>
            <a:cxnSpLocks/>
          </p:cNvCxnSpPr>
          <p:nvPr/>
        </p:nvCxnSpPr>
        <p:spPr>
          <a:xfrm>
            <a:off x="713225" y="2744000"/>
            <a:ext cx="4639063" cy="0"/>
          </a:xfrm>
          <a:prstGeom prst="straightConnector1">
            <a:avLst/>
          </a:prstGeom>
          <a:noFill/>
          <a:ln w="19050" cap="flat" cmpd="sng">
            <a:solidFill>
              <a:schemeClr val="dk1"/>
            </a:solidFill>
            <a:prstDash val="solid"/>
            <a:round/>
            <a:headEnd type="none" w="med" len="med"/>
            <a:tailEnd type="none" w="med" len="med"/>
          </a:ln>
        </p:spPr>
      </p:cxnSp>
      <p:pic>
        <p:nvPicPr>
          <p:cNvPr id="3" name="Google Shape;169;p30">
            <a:extLst>
              <a:ext uri="{FF2B5EF4-FFF2-40B4-BE49-F238E27FC236}">
                <a16:creationId xmlns:a16="http://schemas.microsoft.com/office/drawing/2014/main" id="{A8A8D487-FAA7-0EF5-7000-D870E1C36E6B}"/>
              </a:ext>
            </a:extLst>
          </p:cNvPr>
          <p:cNvPicPr preferRelativeResize="0">
            <a:picLocks/>
          </p:cNvPicPr>
          <p:nvPr/>
        </p:nvPicPr>
        <p:blipFill>
          <a:blip r:embed="rId3"/>
          <a:srcRect t="16231" b="16231"/>
          <a:stretch/>
        </p:blipFill>
        <p:spPr>
          <a:xfrm>
            <a:off x="5845490" y="952853"/>
            <a:ext cx="3298510" cy="1249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30"/>
          <p:cNvPicPr preferRelativeResize="0">
            <a:picLocks noGrp="1"/>
          </p:cNvPicPr>
          <p:nvPr>
            <p:ph type="pic" idx="3"/>
          </p:nvPr>
        </p:nvPicPr>
        <p:blipFill>
          <a:blip r:embed="rId3"/>
          <a:srcRect t="38738"/>
          <a:stretch/>
        </p:blipFill>
        <p:spPr>
          <a:xfrm>
            <a:off x="4656777" y="3276675"/>
            <a:ext cx="3858750" cy="1419900"/>
          </a:xfrm>
          <a:prstGeom prst="rect">
            <a:avLst/>
          </a:prstGeom>
        </p:spPr>
      </p:pic>
      <p:sp>
        <p:nvSpPr>
          <p:cNvPr id="166" name="Google Shape;166;p3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Solution:</a:t>
            </a:r>
            <a:endParaRPr dirty="0"/>
          </a:p>
        </p:txBody>
      </p:sp>
      <p:sp>
        <p:nvSpPr>
          <p:cNvPr id="167" name="Google Shape;167;p30"/>
          <p:cNvSpPr txBox="1">
            <a:spLocks noGrp="1"/>
          </p:cNvSpPr>
          <p:nvPr>
            <p:ph type="subTitle" idx="1"/>
          </p:nvPr>
        </p:nvSpPr>
        <p:spPr>
          <a:xfrm>
            <a:off x="713225" y="1584375"/>
            <a:ext cx="3774000" cy="1692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400" b="1" dirty="0"/>
              <a:t>Overview:</a:t>
            </a:r>
          </a:p>
          <a:p>
            <a:pPr marL="0" lvl="0" indent="0" algn="l" rtl="0">
              <a:spcBef>
                <a:spcPts val="0"/>
              </a:spcBef>
              <a:spcAft>
                <a:spcPts val="0"/>
              </a:spcAft>
              <a:buClr>
                <a:schemeClr val="dk1"/>
              </a:buClr>
              <a:buSzPts val="1100"/>
              <a:buFont typeface="Arial"/>
              <a:buNone/>
            </a:pPr>
            <a:r>
              <a:rPr lang="en-GB" sz="1400" dirty="0"/>
              <a:t>The Smart Blind Stick is an innovative assistive device designed to enhance the mobility, safety, and independence of visually impaired individuals.</a:t>
            </a:r>
          </a:p>
          <a:p>
            <a:pPr marL="0" lvl="0" indent="0" algn="l" rtl="0">
              <a:spcBef>
                <a:spcPts val="0"/>
              </a:spcBef>
              <a:spcAft>
                <a:spcPts val="0"/>
              </a:spcAft>
              <a:buClr>
                <a:schemeClr val="dk1"/>
              </a:buClr>
              <a:buSzPts val="1100"/>
              <a:buFont typeface="Arial"/>
              <a:buNone/>
            </a:pPr>
            <a:endParaRPr lang="en-GB" sz="1400" dirty="0"/>
          </a:p>
          <a:p>
            <a:pPr marL="0" lvl="0" indent="0" algn="l" rtl="0">
              <a:spcBef>
                <a:spcPts val="0"/>
              </a:spcBef>
              <a:spcAft>
                <a:spcPts val="0"/>
              </a:spcAft>
              <a:buClr>
                <a:schemeClr val="dk1"/>
              </a:buClr>
              <a:buSzPts val="1100"/>
              <a:buFont typeface="Arial"/>
              <a:buNone/>
            </a:pPr>
            <a:endParaRPr lang="en-GB" sz="1400" dirty="0"/>
          </a:p>
          <a:p>
            <a:pPr marL="0" lvl="0" indent="0" algn="l" rtl="0">
              <a:spcBef>
                <a:spcPts val="0"/>
              </a:spcBef>
              <a:spcAft>
                <a:spcPts val="0"/>
              </a:spcAft>
              <a:buClr>
                <a:schemeClr val="dk1"/>
              </a:buClr>
              <a:buSzPts val="1100"/>
              <a:buFont typeface="Arial"/>
              <a:buNone/>
            </a:pPr>
            <a:r>
              <a:rPr lang="en-GB" sz="1400" b="1" dirty="0"/>
              <a:t>Key Features:</a:t>
            </a:r>
          </a:p>
          <a:p>
            <a:pPr marL="457200" lvl="0" indent="-317500" algn="l" rtl="0">
              <a:spcBef>
                <a:spcPts val="0"/>
              </a:spcBef>
              <a:spcAft>
                <a:spcPts val="0"/>
              </a:spcAft>
              <a:buSzPts val="1400"/>
              <a:buChar char="●"/>
            </a:pPr>
            <a:r>
              <a:rPr lang="en" sz="1400" dirty="0"/>
              <a:t>Ultra Sonic Sensors </a:t>
            </a:r>
            <a:endParaRPr sz="1400" dirty="0"/>
          </a:p>
          <a:p>
            <a:pPr marL="457200" lvl="0" indent="-317500" algn="l" rtl="0">
              <a:spcBef>
                <a:spcPts val="0"/>
              </a:spcBef>
              <a:spcAft>
                <a:spcPts val="0"/>
              </a:spcAft>
              <a:buSzPts val="1400"/>
              <a:buChar char="●"/>
            </a:pPr>
            <a:r>
              <a:rPr lang="en" sz="1400" dirty="0"/>
              <a:t>Real-time Feedback</a:t>
            </a:r>
            <a:endParaRPr sz="1400" dirty="0"/>
          </a:p>
          <a:p>
            <a:pPr marL="457200" lvl="0" indent="-317500" algn="l" rtl="0">
              <a:spcBef>
                <a:spcPts val="0"/>
              </a:spcBef>
              <a:spcAft>
                <a:spcPts val="0"/>
              </a:spcAft>
              <a:buSzPts val="1400"/>
              <a:buChar char="●"/>
            </a:pPr>
            <a:r>
              <a:rPr lang="en" sz="1400" dirty="0"/>
              <a:t>Water Sensor</a:t>
            </a:r>
          </a:p>
          <a:p>
            <a:pPr marL="457200" lvl="0" indent="-317500" algn="l" rtl="0">
              <a:spcBef>
                <a:spcPts val="0"/>
              </a:spcBef>
              <a:spcAft>
                <a:spcPts val="0"/>
              </a:spcAft>
              <a:buSzPts val="1400"/>
              <a:buChar char="●"/>
            </a:pPr>
            <a:r>
              <a:rPr lang="en" sz="1400" dirty="0"/>
              <a:t>Non-GPS</a:t>
            </a:r>
            <a:endParaRPr sz="1400" dirty="0"/>
          </a:p>
        </p:txBody>
      </p:sp>
      <p:cxnSp>
        <p:nvCxnSpPr>
          <p:cNvPr id="168" name="Google Shape;168;p30"/>
          <p:cNvCxnSpPr/>
          <p:nvPr/>
        </p:nvCxnSpPr>
        <p:spPr>
          <a:xfrm>
            <a:off x="713250" y="1279575"/>
            <a:ext cx="7717500" cy="0"/>
          </a:xfrm>
          <a:prstGeom prst="straightConnector1">
            <a:avLst/>
          </a:prstGeom>
          <a:noFill/>
          <a:ln w="19050" cap="flat" cmpd="sng">
            <a:solidFill>
              <a:schemeClr val="dk1"/>
            </a:solidFill>
            <a:prstDash val="solid"/>
            <a:round/>
            <a:headEnd type="none" w="med" len="med"/>
            <a:tailEnd type="none" w="med" len="med"/>
          </a:ln>
        </p:spPr>
      </p:cxnSp>
      <p:pic>
        <p:nvPicPr>
          <p:cNvPr id="1026" name="Picture 2">
            <a:extLst>
              <a:ext uri="{FF2B5EF4-FFF2-40B4-BE49-F238E27FC236}">
                <a16:creationId xmlns:a16="http://schemas.microsoft.com/office/drawing/2014/main" id="{DB1F68F0-6B41-DA02-A169-92E1D92F4E4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38" t="25279" r="-258" b="29572"/>
          <a:stretch/>
        </p:blipFill>
        <p:spPr bwMode="auto">
          <a:xfrm>
            <a:off x="4572000" y="1575043"/>
            <a:ext cx="3936824" cy="16090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Project Objective</a:t>
            </a:r>
            <a:endParaRPr dirty="0"/>
          </a:p>
        </p:txBody>
      </p:sp>
      <p:sp>
        <p:nvSpPr>
          <p:cNvPr id="140" name="Google Shape;140;p28"/>
          <p:cNvSpPr txBox="1">
            <a:spLocks noGrp="1"/>
          </p:cNvSpPr>
          <p:nvPr>
            <p:ph type="title" idx="2"/>
          </p:nvPr>
        </p:nvSpPr>
        <p:spPr>
          <a:xfrm>
            <a:off x="713225" y="1754900"/>
            <a:ext cx="8388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
        <p:nvSpPr>
          <p:cNvPr id="141" name="Google Shape;141;p28"/>
          <p:cNvSpPr txBox="1">
            <a:spLocks noGrp="1"/>
          </p:cNvSpPr>
          <p:nvPr>
            <p:ph type="title" idx="3"/>
          </p:nvPr>
        </p:nvSpPr>
        <p:spPr>
          <a:xfrm>
            <a:off x="713225" y="3275363"/>
            <a:ext cx="8388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42" name="Google Shape;142;p28"/>
          <p:cNvSpPr txBox="1">
            <a:spLocks noGrp="1"/>
          </p:cNvSpPr>
          <p:nvPr>
            <p:ph type="title" idx="4"/>
          </p:nvPr>
        </p:nvSpPr>
        <p:spPr>
          <a:xfrm>
            <a:off x="3342325" y="1754900"/>
            <a:ext cx="8388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43" name="Google Shape;143;p28"/>
          <p:cNvSpPr txBox="1">
            <a:spLocks noGrp="1"/>
          </p:cNvSpPr>
          <p:nvPr>
            <p:ph type="title" idx="5"/>
          </p:nvPr>
        </p:nvSpPr>
        <p:spPr>
          <a:xfrm>
            <a:off x="3342325" y="3275363"/>
            <a:ext cx="8388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144" name="Google Shape;144;p28"/>
          <p:cNvSpPr txBox="1">
            <a:spLocks noGrp="1"/>
          </p:cNvSpPr>
          <p:nvPr>
            <p:ph type="title" idx="6"/>
          </p:nvPr>
        </p:nvSpPr>
        <p:spPr>
          <a:xfrm>
            <a:off x="5971425" y="1754900"/>
            <a:ext cx="8388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45" name="Google Shape;145;p28"/>
          <p:cNvSpPr txBox="1">
            <a:spLocks noGrp="1"/>
          </p:cNvSpPr>
          <p:nvPr>
            <p:ph type="title" idx="7"/>
          </p:nvPr>
        </p:nvSpPr>
        <p:spPr>
          <a:xfrm>
            <a:off x="5971425" y="3275363"/>
            <a:ext cx="8388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sp>
        <p:nvSpPr>
          <p:cNvPr id="146" name="Google Shape;146;p28"/>
          <p:cNvSpPr txBox="1">
            <a:spLocks noGrp="1"/>
          </p:cNvSpPr>
          <p:nvPr>
            <p:ph type="subTitle" idx="1"/>
          </p:nvPr>
        </p:nvSpPr>
        <p:spPr>
          <a:xfrm>
            <a:off x="713225" y="2202258"/>
            <a:ext cx="2445900" cy="63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latin typeface="Arimo" panose="020B0604020202020204" charset="0"/>
                <a:ea typeface="Arimo" panose="020B0604020202020204" charset="0"/>
                <a:cs typeface="Arimo" panose="020B0604020202020204" charset="0"/>
              </a:rPr>
              <a:t>Enhance Mobility</a:t>
            </a:r>
            <a:endParaRPr dirty="0"/>
          </a:p>
        </p:txBody>
      </p:sp>
      <p:sp>
        <p:nvSpPr>
          <p:cNvPr id="147" name="Google Shape;147;p28"/>
          <p:cNvSpPr txBox="1">
            <a:spLocks noGrp="1"/>
          </p:cNvSpPr>
          <p:nvPr>
            <p:ph type="subTitle" idx="8"/>
          </p:nvPr>
        </p:nvSpPr>
        <p:spPr>
          <a:xfrm>
            <a:off x="3342330" y="2202258"/>
            <a:ext cx="2445900" cy="63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1600" i="0" u="none" strike="noStrike" dirty="0">
                <a:solidFill>
                  <a:srgbClr val="000000"/>
                </a:solidFill>
                <a:effectLst/>
                <a:latin typeface="Arimo" panose="020B0604020202020204" charset="0"/>
                <a:ea typeface="Arimo" panose="020B0604020202020204" charset="0"/>
                <a:cs typeface="Arimo" panose="020B0604020202020204" charset="0"/>
              </a:rPr>
              <a:t>Integrate Advanced Features</a:t>
            </a:r>
            <a:endParaRPr dirty="0"/>
          </a:p>
        </p:txBody>
      </p:sp>
      <p:sp>
        <p:nvSpPr>
          <p:cNvPr id="148" name="Google Shape;148;p28"/>
          <p:cNvSpPr txBox="1">
            <a:spLocks noGrp="1"/>
          </p:cNvSpPr>
          <p:nvPr>
            <p:ph type="subTitle" idx="9"/>
          </p:nvPr>
        </p:nvSpPr>
        <p:spPr>
          <a:xfrm>
            <a:off x="5971427" y="2202258"/>
            <a:ext cx="2445900" cy="63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IN" sz="1600" i="0" u="none" strike="noStrike" dirty="0">
                <a:solidFill>
                  <a:srgbClr val="000000"/>
                </a:solidFill>
                <a:effectLst/>
                <a:latin typeface="Arimo" panose="020B0604020202020204" charset="0"/>
                <a:ea typeface="Arimo" panose="020B0604020202020204" charset="0"/>
                <a:cs typeface="Arimo" panose="020B0604020202020204" charset="0"/>
              </a:rPr>
              <a:t>Focus on Accessibility</a:t>
            </a:r>
            <a:endParaRPr lang="en-IN" sz="1600" dirty="0">
              <a:solidFill>
                <a:srgbClr val="000000"/>
              </a:solidFill>
              <a:latin typeface="Arimo" panose="020B0604020202020204" charset="0"/>
              <a:ea typeface="Arimo" panose="020B0604020202020204" charset="0"/>
              <a:cs typeface="Arimo" panose="020B0604020202020204" charset="0"/>
            </a:endParaRPr>
          </a:p>
        </p:txBody>
      </p:sp>
      <p:sp>
        <p:nvSpPr>
          <p:cNvPr id="149" name="Google Shape;149;p28"/>
          <p:cNvSpPr txBox="1">
            <a:spLocks noGrp="1"/>
          </p:cNvSpPr>
          <p:nvPr>
            <p:ph type="subTitle" idx="13"/>
          </p:nvPr>
        </p:nvSpPr>
        <p:spPr>
          <a:xfrm>
            <a:off x="713225" y="3722800"/>
            <a:ext cx="2445900" cy="63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IN" sz="1600" i="0" u="none" strike="noStrike" dirty="0">
                <a:solidFill>
                  <a:srgbClr val="000000"/>
                </a:solidFill>
                <a:effectLst/>
                <a:latin typeface="Arimo" panose="020B0604020202020204" charset="0"/>
                <a:ea typeface="Arimo" panose="020B0604020202020204" charset="0"/>
                <a:cs typeface="Arimo" panose="020B0604020202020204" charset="0"/>
              </a:rPr>
              <a:t>Prioritize Safety</a:t>
            </a:r>
          </a:p>
        </p:txBody>
      </p:sp>
      <p:sp>
        <p:nvSpPr>
          <p:cNvPr id="150" name="Google Shape;150;p28"/>
          <p:cNvSpPr txBox="1">
            <a:spLocks noGrp="1"/>
          </p:cNvSpPr>
          <p:nvPr>
            <p:ph type="subTitle" idx="14"/>
          </p:nvPr>
        </p:nvSpPr>
        <p:spPr>
          <a:xfrm>
            <a:off x="3342330" y="3722800"/>
            <a:ext cx="2445900" cy="63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IN" sz="1600" i="0" u="none" strike="noStrike" dirty="0">
                <a:solidFill>
                  <a:srgbClr val="000000"/>
                </a:solidFill>
                <a:effectLst/>
                <a:latin typeface="Arimo" panose="020B0604020202020204" charset="0"/>
                <a:ea typeface="Arimo" panose="020B0604020202020204" charset="0"/>
                <a:cs typeface="Arimo" panose="020B0604020202020204" charset="0"/>
              </a:rPr>
              <a:t>Durability</a:t>
            </a:r>
            <a:endParaRPr lang="en-GB" sz="1600" i="0" u="none" strike="noStrike" dirty="0">
              <a:solidFill>
                <a:srgbClr val="000000"/>
              </a:solidFill>
              <a:effectLst/>
              <a:latin typeface="Arimo" panose="020B0604020202020204" charset="0"/>
              <a:ea typeface="Arimo" panose="020B0604020202020204" charset="0"/>
              <a:cs typeface="Arimo" panose="020B0604020202020204" charset="0"/>
            </a:endParaRPr>
          </a:p>
        </p:txBody>
      </p:sp>
      <p:sp>
        <p:nvSpPr>
          <p:cNvPr id="151" name="Google Shape;151;p28"/>
          <p:cNvSpPr txBox="1">
            <a:spLocks noGrp="1"/>
          </p:cNvSpPr>
          <p:nvPr>
            <p:ph type="subTitle" idx="15"/>
          </p:nvPr>
        </p:nvSpPr>
        <p:spPr>
          <a:xfrm>
            <a:off x="5971427" y="3722800"/>
            <a:ext cx="2445900" cy="63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IN" sz="1600" i="0" u="none" strike="noStrike" dirty="0">
                <a:solidFill>
                  <a:srgbClr val="000000"/>
                </a:solidFill>
                <a:effectLst/>
                <a:latin typeface="Arimo" panose="020B0604020202020204" charset="0"/>
                <a:ea typeface="Arimo" panose="020B0604020202020204" charset="0"/>
                <a:cs typeface="Arimo" panose="020B0604020202020204" charset="0"/>
              </a:rPr>
              <a:t>Real-World Testing</a:t>
            </a:r>
            <a:endParaRPr lang="en-GB" sz="1600" i="0" u="none" strike="noStrike" dirty="0">
              <a:solidFill>
                <a:srgbClr val="000000"/>
              </a:solidFill>
              <a:effectLst/>
              <a:latin typeface="Arimo" panose="020B0604020202020204" charset="0"/>
              <a:ea typeface="Arimo" panose="020B0604020202020204" charset="0"/>
              <a:cs typeface="Arimo" panose="020B0604020202020204" charset="0"/>
            </a:endParaRPr>
          </a:p>
        </p:txBody>
      </p:sp>
      <p:cxnSp>
        <p:nvCxnSpPr>
          <p:cNvPr id="152" name="Google Shape;152;p28"/>
          <p:cNvCxnSpPr/>
          <p:nvPr/>
        </p:nvCxnSpPr>
        <p:spPr>
          <a:xfrm>
            <a:off x="713250" y="1279575"/>
            <a:ext cx="7717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04E10ADA-64D7-FA1D-8CB0-D76D1C4078DA}"/>
            </a:ext>
          </a:extLst>
        </p:cNvPr>
        <p:cNvGrpSpPr/>
        <p:nvPr/>
      </p:nvGrpSpPr>
      <p:grpSpPr>
        <a:xfrm>
          <a:off x="0" y="0"/>
          <a:ext cx="0" cy="0"/>
          <a:chOff x="0" y="0"/>
          <a:chExt cx="0" cy="0"/>
        </a:xfrm>
      </p:grpSpPr>
      <p:sp>
        <p:nvSpPr>
          <p:cNvPr id="158" name="Google Shape;158;p29">
            <a:extLst>
              <a:ext uri="{FF2B5EF4-FFF2-40B4-BE49-F238E27FC236}">
                <a16:creationId xmlns:a16="http://schemas.microsoft.com/office/drawing/2014/main" id="{018830F1-40C8-CDED-654B-CD8B89A45F69}"/>
              </a:ext>
            </a:extLst>
          </p:cNvPr>
          <p:cNvSpPr txBox="1">
            <a:spLocks noGrp="1"/>
          </p:cNvSpPr>
          <p:nvPr>
            <p:ph type="title" idx="2"/>
          </p:nvPr>
        </p:nvSpPr>
        <p:spPr>
          <a:xfrm>
            <a:off x="844285" y="156120"/>
            <a:ext cx="5516888"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2600" dirty="0"/>
              <a:t>Scope of Study</a:t>
            </a:r>
            <a:endParaRPr sz="2600" dirty="0"/>
          </a:p>
        </p:txBody>
      </p:sp>
      <p:cxnSp>
        <p:nvCxnSpPr>
          <p:cNvPr id="160" name="Google Shape;160;p29">
            <a:extLst>
              <a:ext uri="{FF2B5EF4-FFF2-40B4-BE49-F238E27FC236}">
                <a16:creationId xmlns:a16="http://schemas.microsoft.com/office/drawing/2014/main" id="{BD6768CD-A776-74F6-58E3-9F71374EF8CC}"/>
              </a:ext>
            </a:extLst>
          </p:cNvPr>
          <p:cNvCxnSpPr>
            <a:cxnSpLocks/>
          </p:cNvCxnSpPr>
          <p:nvPr/>
        </p:nvCxnSpPr>
        <p:spPr>
          <a:xfrm>
            <a:off x="844285" y="1390688"/>
            <a:ext cx="4639063" cy="0"/>
          </a:xfrm>
          <a:prstGeom prst="straightConnector1">
            <a:avLst/>
          </a:prstGeom>
          <a:noFill/>
          <a:ln w="19050" cap="flat" cmpd="sng">
            <a:solidFill>
              <a:schemeClr val="dk1"/>
            </a:solidFill>
            <a:prstDash val="solid"/>
            <a:round/>
            <a:headEnd type="none" w="med" len="med"/>
            <a:tailEnd type="none" w="med" len="med"/>
          </a:ln>
        </p:spPr>
      </p:cxnSp>
      <p:grpSp>
        <p:nvGrpSpPr>
          <p:cNvPr id="5" name="Google Shape;521;p46">
            <a:extLst>
              <a:ext uri="{FF2B5EF4-FFF2-40B4-BE49-F238E27FC236}">
                <a16:creationId xmlns:a16="http://schemas.microsoft.com/office/drawing/2014/main" id="{80D799E5-CC93-5B01-BA15-E6E4004C9860}"/>
              </a:ext>
            </a:extLst>
          </p:cNvPr>
          <p:cNvGrpSpPr/>
          <p:nvPr/>
        </p:nvGrpSpPr>
        <p:grpSpPr>
          <a:xfrm>
            <a:off x="4784876" y="1494441"/>
            <a:ext cx="4212820" cy="3492939"/>
            <a:chOff x="3179914" y="2889488"/>
            <a:chExt cx="422876" cy="404911"/>
          </a:xfrm>
        </p:grpSpPr>
        <p:sp>
          <p:nvSpPr>
            <p:cNvPr id="6" name="Google Shape;522;p46">
              <a:extLst>
                <a:ext uri="{FF2B5EF4-FFF2-40B4-BE49-F238E27FC236}">
                  <a16:creationId xmlns:a16="http://schemas.microsoft.com/office/drawing/2014/main" id="{3F9E475C-50F0-16F7-D68C-1D2A3A3DC755}"/>
                </a:ext>
              </a:extLst>
            </p:cNvPr>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23;p46">
              <a:extLst>
                <a:ext uri="{FF2B5EF4-FFF2-40B4-BE49-F238E27FC236}">
                  <a16:creationId xmlns:a16="http://schemas.microsoft.com/office/drawing/2014/main" id="{152F3D98-C62E-E623-0D9C-6C88497420F0}"/>
                </a:ext>
              </a:extLst>
            </p:cNvPr>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24;p46">
              <a:extLst>
                <a:ext uri="{FF2B5EF4-FFF2-40B4-BE49-F238E27FC236}">
                  <a16:creationId xmlns:a16="http://schemas.microsoft.com/office/drawing/2014/main" id="{D65E2217-B8ED-8A8B-3B85-BF24FE8E0BDF}"/>
                </a:ext>
              </a:extLst>
            </p:cNvPr>
            <p:cNvSpPr/>
            <p:nvPr/>
          </p:nvSpPr>
          <p:spPr>
            <a:xfrm>
              <a:off x="3222637" y="2889488"/>
              <a:ext cx="198457" cy="149224"/>
            </a:xfrm>
            <a:custGeom>
              <a:avLst/>
              <a:gdLst/>
              <a:ahLst/>
              <a:cxnLst/>
              <a:rect l="l" t="t" r="r" b="b"/>
              <a:pathLst>
                <a:path w="9114" h="6853" extrusionOk="0">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25;p46">
              <a:extLst>
                <a:ext uri="{FF2B5EF4-FFF2-40B4-BE49-F238E27FC236}">
                  <a16:creationId xmlns:a16="http://schemas.microsoft.com/office/drawing/2014/main" id="{3CEA9173-3827-129F-1ED6-D7FA0EE2B6A5}"/>
                </a:ext>
              </a:extLst>
            </p:cNvPr>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26;p46">
              <a:extLst>
                <a:ext uri="{FF2B5EF4-FFF2-40B4-BE49-F238E27FC236}">
                  <a16:creationId xmlns:a16="http://schemas.microsoft.com/office/drawing/2014/main" id="{62C5E19F-8A04-BE61-62A3-A5248C403251}"/>
                </a:ext>
              </a:extLst>
            </p:cNvPr>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27;p46">
              <a:extLst>
                <a:ext uri="{FF2B5EF4-FFF2-40B4-BE49-F238E27FC236}">
                  <a16:creationId xmlns:a16="http://schemas.microsoft.com/office/drawing/2014/main" id="{98B783EF-0FE6-032E-428E-79AC8A285E5C}"/>
                </a:ext>
              </a:extLst>
            </p:cNvPr>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 name="Google Shape;140;p28">
            <a:extLst>
              <a:ext uri="{FF2B5EF4-FFF2-40B4-BE49-F238E27FC236}">
                <a16:creationId xmlns:a16="http://schemas.microsoft.com/office/drawing/2014/main" id="{510625E0-1B07-C4BB-64F2-0243194D09C2}"/>
              </a:ext>
            </a:extLst>
          </p:cNvPr>
          <p:cNvSpPr txBox="1">
            <a:spLocks/>
          </p:cNvSpPr>
          <p:nvPr/>
        </p:nvSpPr>
        <p:spPr>
          <a:xfrm>
            <a:off x="5152521" y="2571750"/>
            <a:ext cx="1521950" cy="83809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Outfit"/>
              <a:buNone/>
              <a:defRPr sz="6000" b="1" i="0" u="none" strike="noStrike" cap="none">
                <a:solidFill>
                  <a:schemeClr val="dk1"/>
                </a:solidFill>
                <a:latin typeface="Outfit"/>
                <a:ea typeface="Outfit"/>
                <a:cs typeface="Outfit"/>
                <a:sym typeface="Outfit"/>
              </a:defRPr>
            </a:lvl1pPr>
            <a:lvl2pPr marR="0" lvl="1"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2pPr>
            <a:lvl3pPr marR="0" lvl="2"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3pPr>
            <a:lvl4pPr marR="0" lvl="3"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4pPr>
            <a:lvl5pPr marR="0" lvl="4"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5pPr>
            <a:lvl6pPr marR="0" lvl="5"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6pPr>
            <a:lvl7pPr marR="0" lvl="6"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7pPr>
            <a:lvl8pPr marR="0" lvl="7"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8pPr>
            <a:lvl9pPr marR="0" lvl="8"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9pPr>
          </a:lstStyle>
          <a:p>
            <a:r>
              <a:rPr lang="en" sz="2800" dirty="0"/>
              <a:t>02</a:t>
            </a:r>
          </a:p>
        </p:txBody>
      </p:sp>
      <p:sp>
        <p:nvSpPr>
          <p:cNvPr id="13" name="Google Shape;140;p28">
            <a:extLst>
              <a:ext uri="{FF2B5EF4-FFF2-40B4-BE49-F238E27FC236}">
                <a16:creationId xmlns:a16="http://schemas.microsoft.com/office/drawing/2014/main" id="{67CAA19A-BDAC-C71D-5896-A8DDF70047C3}"/>
              </a:ext>
            </a:extLst>
          </p:cNvPr>
          <p:cNvSpPr txBox="1">
            <a:spLocks/>
          </p:cNvSpPr>
          <p:nvPr/>
        </p:nvSpPr>
        <p:spPr>
          <a:xfrm>
            <a:off x="5635974" y="3700108"/>
            <a:ext cx="1521950" cy="83809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Outfit"/>
              <a:buNone/>
              <a:defRPr sz="6000" b="1" i="0" u="none" strike="noStrike" cap="none">
                <a:solidFill>
                  <a:schemeClr val="dk1"/>
                </a:solidFill>
                <a:latin typeface="Outfit"/>
                <a:ea typeface="Outfit"/>
                <a:cs typeface="Outfit"/>
                <a:sym typeface="Outfit"/>
              </a:defRPr>
            </a:lvl1pPr>
            <a:lvl2pPr marR="0" lvl="1"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2pPr>
            <a:lvl3pPr marR="0" lvl="2"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3pPr>
            <a:lvl4pPr marR="0" lvl="3"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4pPr>
            <a:lvl5pPr marR="0" lvl="4"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5pPr>
            <a:lvl6pPr marR="0" lvl="5"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6pPr>
            <a:lvl7pPr marR="0" lvl="6"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7pPr>
            <a:lvl8pPr marR="0" lvl="7"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8pPr>
            <a:lvl9pPr marR="0" lvl="8"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9pPr>
          </a:lstStyle>
          <a:p>
            <a:r>
              <a:rPr lang="en" sz="2800" dirty="0"/>
              <a:t>03</a:t>
            </a:r>
          </a:p>
        </p:txBody>
      </p:sp>
      <p:sp>
        <p:nvSpPr>
          <p:cNvPr id="14" name="Google Shape;140;p28">
            <a:extLst>
              <a:ext uri="{FF2B5EF4-FFF2-40B4-BE49-F238E27FC236}">
                <a16:creationId xmlns:a16="http://schemas.microsoft.com/office/drawing/2014/main" id="{D2DBB5B3-FD61-2673-B377-E47CB8671F96}"/>
              </a:ext>
            </a:extLst>
          </p:cNvPr>
          <p:cNvSpPr txBox="1">
            <a:spLocks/>
          </p:cNvSpPr>
          <p:nvPr/>
        </p:nvSpPr>
        <p:spPr>
          <a:xfrm>
            <a:off x="6114831" y="1526429"/>
            <a:ext cx="1521950" cy="83809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Outfit"/>
              <a:buNone/>
              <a:defRPr sz="6000" b="1" i="0" u="none" strike="noStrike" cap="none">
                <a:solidFill>
                  <a:schemeClr val="dk1"/>
                </a:solidFill>
                <a:latin typeface="Outfit"/>
                <a:ea typeface="Outfit"/>
                <a:cs typeface="Outfit"/>
                <a:sym typeface="Outfit"/>
              </a:defRPr>
            </a:lvl1pPr>
            <a:lvl2pPr marR="0" lvl="1"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2pPr>
            <a:lvl3pPr marR="0" lvl="2"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3pPr>
            <a:lvl4pPr marR="0" lvl="3"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4pPr>
            <a:lvl5pPr marR="0" lvl="4"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5pPr>
            <a:lvl6pPr marR="0" lvl="5"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6pPr>
            <a:lvl7pPr marR="0" lvl="6"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7pPr>
            <a:lvl8pPr marR="0" lvl="7"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8pPr>
            <a:lvl9pPr marR="0" lvl="8"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9pPr>
          </a:lstStyle>
          <a:p>
            <a:r>
              <a:rPr lang="en" sz="2800" dirty="0"/>
              <a:t>01</a:t>
            </a:r>
          </a:p>
        </p:txBody>
      </p:sp>
      <p:sp>
        <p:nvSpPr>
          <p:cNvPr id="15" name="Google Shape;140;p28">
            <a:extLst>
              <a:ext uri="{FF2B5EF4-FFF2-40B4-BE49-F238E27FC236}">
                <a16:creationId xmlns:a16="http://schemas.microsoft.com/office/drawing/2014/main" id="{B07FC8FC-938A-BBAD-C172-9599039514D4}"/>
              </a:ext>
            </a:extLst>
          </p:cNvPr>
          <p:cNvSpPr txBox="1">
            <a:spLocks/>
          </p:cNvSpPr>
          <p:nvPr/>
        </p:nvSpPr>
        <p:spPr>
          <a:xfrm>
            <a:off x="7447024" y="1735024"/>
            <a:ext cx="1521950" cy="83809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Outfit"/>
              <a:buNone/>
              <a:defRPr sz="6000" b="1" i="0" u="none" strike="noStrike" cap="none">
                <a:solidFill>
                  <a:schemeClr val="dk1"/>
                </a:solidFill>
                <a:latin typeface="Outfit"/>
                <a:ea typeface="Outfit"/>
                <a:cs typeface="Outfit"/>
                <a:sym typeface="Outfit"/>
              </a:defRPr>
            </a:lvl1pPr>
            <a:lvl2pPr marR="0" lvl="1"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2pPr>
            <a:lvl3pPr marR="0" lvl="2"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3pPr>
            <a:lvl4pPr marR="0" lvl="3"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4pPr>
            <a:lvl5pPr marR="0" lvl="4"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5pPr>
            <a:lvl6pPr marR="0" lvl="5"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6pPr>
            <a:lvl7pPr marR="0" lvl="6"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7pPr>
            <a:lvl8pPr marR="0" lvl="7"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8pPr>
            <a:lvl9pPr marR="0" lvl="8"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9pPr>
          </a:lstStyle>
          <a:p>
            <a:r>
              <a:rPr lang="en" sz="2800" dirty="0"/>
              <a:t>06</a:t>
            </a:r>
          </a:p>
        </p:txBody>
      </p:sp>
      <p:sp>
        <p:nvSpPr>
          <p:cNvPr id="16" name="Google Shape;140;p28">
            <a:extLst>
              <a:ext uri="{FF2B5EF4-FFF2-40B4-BE49-F238E27FC236}">
                <a16:creationId xmlns:a16="http://schemas.microsoft.com/office/drawing/2014/main" id="{1D648112-E72B-0192-A10D-7F75073869FB}"/>
              </a:ext>
            </a:extLst>
          </p:cNvPr>
          <p:cNvSpPr txBox="1">
            <a:spLocks/>
          </p:cNvSpPr>
          <p:nvPr/>
        </p:nvSpPr>
        <p:spPr>
          <a:xfrm>
            <a:off x="8023797" y="2989672"/>
            <a:ext cx="1521950" cy="83809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Outfit"/>
              <a:buNone/>
              <a:defRPr sz="6000" b="1" i="0" u="none" strike="noStrike" cap="none">
                <a:solidFill>
                  <a:schemeClr val="dk1"/>
                </a:solidFill>
                <a:latin typeface="Outfit"/>
                <a:ea typeface="Outfit"/>
                <a:cs typeface="Outfit"/>
                <a:sym typeface="Outfit"/>
              </a:defRPr>
            </a:lvl1pPr>
            <a:lvl2pPr marR="0" lvl="1"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2pPr>
            <a:lvl3pPr marR="0" lvl="2"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3pPr>
            <a:lvl4pPr marR="0" lvl="3"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4pPr>
            <a:lvl5pPr marR="0" lvl="4"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5pPr>
            <a:lvl6pPr marR="0" lvl="5"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6pPr>
            <a:lvl7pPr marR="0" lvl="6"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7pPr>
            <a:lvl8pPr marR="0" lvl="7"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8pPr>
            <a:lvl9pPr marR="0" lvl="8"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9pPr>
          </a:lstStyle>
          <a:p>
            <a:r>
              <a:rPr lang="en" sz="2800" dirty="0"/>
              <a:t>05</a:t>
            </a:r>
          </a:p>
        </p:txBody>
      </p:sp>
      <p:sp>
        <p:nvSpPr>
          <p:cNvPr id="17" name="Google Shape;140;p28">
            <a:extLst>
              <a:ext uri="{FF2B5EF4-FFF2-40B4-BE49-F238E27FC236}">
                <a16:creationId xmlns:a16="http://schemas.microsoft.com/office/drawing/2014/main" id="{9E0B4A0D-B7BC-FA7E-FC0F-5C3C041F98E0}"/>
              </a:ext>
            </a:extLst>
          </p:cNvPr>
          <p:cNvSpPr txBox="1">
            <a:spLocks/>
          </p:cNvSpPr>
          <p:nvPr/>
        </p:nvSpPr>
        <p:spPr>
          <a:xfrm>
            <a:off x="7049271" y="3886848"/>
            <a:ext cx="1521950" cy="83809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Outfit"/>
              <a:buNone/>
              <a:defRPr sz="6000" b="1" i="0" u="none" strike="noStrike" cap="none">
                <a:solidFill>
                  <a:schemeClr val="dk1"/>
                </a:solidFill>
                <a:latin typeface="Outfit"/>
                <a:ea typeface="Outfit"/>
                <a:cs typeface="Outfit"/>
                <a:sym typeface="Outfit"/>
              </a:defRPr>
            </a:lvl1pPr>
            <a:lvl2pPr marR="0" lvl="1"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2pPr>
            <a:lvl3pPr marR="0" lvl="2"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3pPr>
            <a:lvl4pPr marR="0" lvl="3"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4pPr>
            <a:lvl5pPr marR="0" lvl="4"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5pPr>
            <a:lvl6pPr marR="0" lvl="5"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6pPr>
            <a:lvl7pPr marR="0" lvl="6"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7pPr>
            <a:lvl8pPr marR="0" lvl="7"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8pPr>
            <a:lvl9pPr marR="0" lvl="8"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9pPr>
          </a:lstStyle>
          <a:p>
            <a:r>
              <a:rPr lang="en" sz="2800" dirty="0"/>
              <a:t>04</a:t>
            </a:r>
          </a:p>
        </p:txBody>
      </p:sp>
      <p:sp>
        <p:nvSpPr>
          <p:cNvPr id="18" name="Google Shape;140;p28">
            <a:extLst>
              <a:ext uri="{FF2B5EF4-FFF2-40B4-BE49-F238E27FC236}">
                <a16:creationId xmlns:a16="http://schemas.microsoft.com/office/drawing/2014/main" id="{363669DC-43AC-11BB-627A-B2BC1ABC6B90}"/>
              </a:ext>
            </a:extLst>
          </p:cNvPr>
          <p:cNvSpPr txBox="1">
            <a:spLocks/>
          </p:cNvSpPr>
          <p:nvPr/>
        </p:nvSpPr>
        <p:spPr>
          <a:xfrm>
            <a:off x="844285" y="4095207"/>
            <a:ext cx="5044217" cy="83809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Outfit"/>
              <a:buNone/>
              <a:defRPr sz="6000" b="1" i="0" u="none" strike="noStrike" cap="none">
                <a:solidFill>
                  <a:schemeClr val="dk1"/>
                </a:solidFill>
                <a:latin typeface="Outfit"/>
                <a:ea typeface="Outfit"/>
                <a:cs typeface="Outfit"/>
                <a:sym typeface="Outfit"/>
              </a:defRPr>
            </a:lvl1pPr>
            <a:lvl2pPr marR="0" lvl="1"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2pPr>
            <a:lvl3pPr marR="0" lvl="2"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3pPr>
            <a:lvl4pPr marR="0" lvl="3"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4pPr>
            <a:lvl5pPr marR="0" lvl="4"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5pPr>
            <a:lvl6pPr marR="0" lvl="5"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6pPr>
            <a:lvl7pPr marR="0" lvl="6"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7pPr>
            <a:lvl8pPr marR="0" lvl="7"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8pPr>
            <a:lvl9pPr marR="0" lvl="8" algn="ctr" rtl="0">
              <a:lnSpc>
                <a:spcPct val="100000"/>
              </a:lnSpc>
              <a:spcBef>
                <a:spcPts val="0"/>
              </a:spcBef>
              <a:spcAft>
                <a:spcPts val="0"/>
              </a:spcAft>
              <a:buClr>
                <a:schemeClr val="lt1"/>
              </a:buClr>
              <a:buSzPts val="6000"/>
              <a:buFont typeface="Outfit"/>
              <a:buNone/>
              <a:defRPr sz="6000" b="1" i="0" u="none" strike="noStrike" cap="none">
                <a:solidFill>
                  <a:schemeClr val="lt1"/>
                </a:solidFill>
                <a:latin typeface="Outfit"/>
                <a:ea typeface="Outfit"/>
                <a:cs typeface="Outfit"/>
                <a:sym typeface="Outfit"/>
              </a:defRPr>
            </a:lvl9pPr>
          </a:lstStyle>
          <a:p>
            <a:pPr>
              <a:lnSpc>
                <a:spcPct val="200000"/>
              </a:lnSpc>
            </a:pPr>
            <a:r>
              <a:rPr lang="en" sz="1800" dirty="0"/>
              <a:t>1. Technology Research and Selection</a:t>
            </a:r>
          </a:p>
          <a:p>
            <a:pPr>
              <a:lnSpc>
                <a:spcPct val="200000"/>
              </a:lnSpc>
            </a:pPr>
            <a:r>
              <a:rPr lang="en" sz="1800" dirty="0"/>
              <a:t>2. Prototyping and Design</a:t>
            </a:r>
          </a:p>
          <a:p>
            <a:pPr>
              <a:lnSpc>
                <a:spcPct val="200000"/>
              </a:lnSpc>
            </a:pPr>
            <a:r>
              <a:rPr lang="en" sz="1800" dirty="0"/>
              <a:t>3. Software Implementation</a:t>
            </a:r>
          </a:p>
          <a:p>
            <a:pPr>
              <a:lnSpc>
                <a:spcPct val="200000"/>
              </a:lnSpc>
            </a:pPr>
            <a:r>
              <a:rPr lang="en" sz="1800" dirty="0"/>
              <a:t>4. Testing Across Scenarios</a:t>
            </a:r>
          </a:p>
          <a:p>
            <a:pPr>
              <a:lnSpc>
                <a:spcPct val="200000"/>
              </a:lnSpc>
            </a:pPr>
            <a:r>
              <a:rPr lang="en" sz="1800" dirty="0"/>
              <a:t>5. User Feedback and Optimization</a:t>
            </a:r>
          </a:p>
          <a:p>
            <a:pPr>
              <a:lnSpc>
                <a:spcPct val="200000"/>
              </a:lnSpc>
            </a:pPr>
            <a:r>
              <a:rPr lang="en" sz="1800" dirty="0"/>
              <a:t>6. Future Enhancements Exploration</a:t>
            </a:r>
          </a:p>
        </p:txBody>
      </p:sp>
    </p:spTree>
    <p:extLst>
      <p:ext uri="{BB962C8B-B14F-4D97-AF65-F5344CB8AC3E}">
        <p14:creationId xmlns:p14="http://schemas.microsoft.com/office/powerpoint/2010/main" val="2731727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2"/>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 Overview</a:t>
            </a:r>
            <a:endParaRPr dirty="0"/>
          </a:p>
        </p:txBody>
      </p:sp>
      <p:sp>
        <p:nvSpPr>
          <p:cNvPr id="187" name="Google Shape;187;p32"/>
          <p:cNvSpPr txBox="1">
            <a:spLocks noGrp="1"/>
          </p:cNvSpPr>
          <p:nvPr>
            <p:ph type="subTitle" idx="1"/>
          </p:nvPr>
        </p:nvSpPr>
        <p:spPr>
          <a:xfrm>
            <a:off x="720000" y="2371726"/>
            <a:ext cx="2452489" cy="124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0" i="0" u="none" strike="noStrike" dirty="0">
                <a:solidFill>
                  <a:srgbClr val="000000"/>
                </a:solidFill>
                <a:effectLst/>
                <a:latin typeface="Arimo" panose="020B0604020202020204" charset="0"/>
                <a:ea typeface="Arimo" panose="020B0604020202020204" charset="0"/>
                <a:cs typeface="Arimo" panose="020B0604020202020204" charset="0"/>
              </a:rPr>
              <a:t>Select appropriate hardware components, such as ultrasonic sensors, microcontrollers, and alert mechanisms, based on functionality, cost, and compatibility. Design a compact, ergonomic prototype that ensures optimal sensor placement for enhanced obstacle detection.</a:t>
            </a:r>
            <a:endParaRPr sz="1000" dirty="0">
              <a:latin typeface="Arimo" panose="020B0604020202020204" charset="0"/>
              <a:ea typeface="Arimo" panose="020B0604020202020204" charset="0"/>
              <a:cs typeface="Arimo" panose="020B0604020202020204" charset="0"/>
            </a:endParaRPr>
          </a:p>
        </p:txBody>
      </p:sp>
      <p:sp>
        <p:nvSpPr>
          <p:cNvPr id="188" name="Google Shape;188;p32"/>
          <p:cNvSpPr txBox="1">
            <a:spLocks noGrp="1"/>
          </p:cNvSpPr>
          <p:nvPr>
            <p:ph type="subTitle" idx="2"/>
          </p:nvPr>
        </p:nvSpPr>
        <p:spPr>
          <a:xfrm>
            <a:off x="3345747" y="2371726"/>
            <a:ext cx="2452500" cy="124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0" i="0" u="none" strike="noStrike" dirty="0">
                <a:solidFill>
                  <a:srgbClr val="000000"/>
                </a:solidFill>
                <a:effectLst/>
                <a:latin typeface="Arimo" panose="020B0604020202020204" charset="0"/>
                <a:ea typeface="Arimo" panose="020B0604020202020204" charset="0"/>
                <a:cs typeface="Arimo" panose="020B0604020202020204" charset="0"/>
              </a:rPr>
              <a:t>Develop algorithms to process sensor data, implement obstacle detection logic, and trigger timely feedback mechanisms. Use efficient programming techniques to optimize energy usage and system responsiveness.</a:t>
            </a:r>
            <a:endParaRPr sz="1000" dirty="0">
              <a:latin typeface="Arimo" panose="020B0604020202020204" charset="0"/>
              <a:ea typeface="Arimo" panose="020B0604020202020204" charset="0"/>
              <a:cs typeface="Arimo" panose="020B0604020202020204" charset="0"/>
            </a:endParaRPr>
          </a:p>
        </p:txBody>
      </p:sp>
      <p:sp>
        <p:nvSpPr>
          <p:cNvPr id="189" name="Google Shape;189;p32"/>
          <p:cNvSpPr txBox="1">
            <a:spLocks noGrp="1"/>
          </p:cNvSpPr>
          <p:nvPr>
            <p:ph type="subTitle" idx="3"/>
          </p:nvPr>
        </p:nvSpPr>
        <p:spPr>
          <a:xfrm>
            <a:off x="5971494" y="2249806"/>
            <a:ext cx="2794548" cy="1242900"/>
          </a:xfrm>
          <a:prstGeom prst="rect">
            <a:avLst/>
          </a:prstGeom>
        </p:spPr>
        <p:txBody>
          <a:bodyPr spcFirstLastPara="1" wrap="square" lIns="91425" tIns="91425" rIns="91425" bIns="91425" anchor="t" anchorCtr="0">
            <a:noAutofit/>
          </a:bodyPr>
          <a:lstStyle/>
          <a:p>
            <a:pPr marL="152400" indent="0" rtl="0" fontAlgn="base">
              <a:spcBef>
                <a:spcPts val="1000"/>
              </a:spcBef>
            </a:pPr>
            <a:r>
              <a:rPr lang="en-GB" b="0" i="0" u="none" strike="noStrike" dirty="0">
                <a:solidFill>
                  <a:srgbClr val="000000"/>
                </a:solidFill>
                <a:effectLst/>
                <a:latin typeface="Arimo" panose="020B0604020202020204" charset="0"/>
                <a:ea typeface="Arimo" panose="020B0604020202020204" charset="0"/>
                <a:cs typeface="Arimo" panose="020B0604020202020204" charset="0"/>
              </a:rPr>
              <a:t>Evaluate the prototype's performance through comprehensive testing in diverse environments, including indoor and outdoor spaces, low-light conditions, and crowded areas. Fine-tune the sensitivity of sensors and feedback mechanisms based on test results.</a:t>
            </a:r>
          </a:p>
        </p:txBody>
      </p:sp>
      <p:sp>
        <p:nvSpPr>
          <p:cNvPr id="190" name="Google Shape;190;p32"/>
          <p:cNvSpPr txBox="1">
            <a:spLocks noGrp="1"/>
          </p:cNvSpPr>
          <p:nvPr>
            <p:ph type="subTitle" idx="4"/>
          </p:nvPr>
        </p:nvSpPr>
        <p:spPr>
          <a:xfrm>
            <a:off x="720000" y="1584375"/>
            <a:ext cx="2452500" cy="78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Component Selection and Design</a:t>
            </a:r>
            <a:endParaRPr dirty="0"/>
          </a:p>
        </p:txBody>
      </p:sp>
      <p:sp>
        <p:nvSpPr>
          <p:cNvPr id="191" name="Google Shape;191;p32"/>
          <p:cNvSpPr txBox="1">
            <a:spLocks noGrp="1"/>
          </p:cNvSpPr>
          <p:nvPr>
            <p:ph type="subTitle" idx="5"/>
          </p:nvPr>
        </p:nvSpPr>
        <p:spPr>
          <a:xfrm>
            <a:off x="3345753" y="1584375"/>
            <a:ext cx="2452500" cy="78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Software Development and Integration</a:t>
            </a:r>
            <a:endParaRPr dirty="0"/>
          </a:p>
        </p:txBody>
      </p:sp>
      <p:sp>
        <p:nvSpPr>
          <p:cNvPr id="192" name="Google Shape;192;p32"/>
          <p:cNvSpPr txBox="1">
            <a:spLocks noGrp="1"/>
          </p:cNvSpPr>
          <p:nvPr>
            <p:ph type="subTitle" idx="6"/>
          </p:nvPr>
        </p:nvSpPr>
        <p:spPr>
          <a:xfrm>
            <a:off x="5971505" y="1584375"/>
            <a:ext cx="2452500" cy="78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Testing and Validation</a:t>
            </a:r>
          </a:p>
          <a:p>
            <a:pPr marL="0" lvl="0" indent="0" algn="l" rtl="0">
              <a:spcBef>
                <a:spcPts val="0"/>
              </a:spcBef>
              <a:spcAft>
                <a:spcPts val="0"/>
              </a:spcAft>
              <a:buNone/>
            </a:pPr>
            <a:endParaRPr dirty="0"/>
          </a:p>
        </p:txBody>
      </p:sp>
      <p:cxnSp>
        <p:nvCxnSpPr>
          <p:cNvPr id="193" name="Google Shape;193;p32"/>
          <p:cNvCxnSpPr/>
          <p:nvPr/>
        </p:nvCxnSpPr>
        <p:spPr>
          <a:xfrm>
            <a:off x="713250" y="1279575"/>
            <a:ext cx="7717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B86F7-4616-1EDF-CF9C-2121259FDD9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CF5B998-CF06-BCB0-62A9-6945ABA58541}"/>
              </a:ext>
            </a:extLst>
          </p:cNvPr>
          <p:cNvSpPr/>
          <p:nvPr/>
        </p:nvSpPr>
        <p:spPr>
          <a:xfrm>
            <a:off x="262128" y="1841045"/>
            <a:ext cx="8674607" cy="286232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3" name="Title 2">
            <a:extLst>
              <a:ext uri="{FF2B5EF4-FFF2-40B4-BE49-F238E27FC236}">
                <a16:creationId xmlns:a16="http://schemas.microsoft.com/office/drawing/2014/main" id="{8BBF4E52-F8D2-5CC0-EA8C-7CBCA65518CA}"/>
              </a:ext>
            </a:extLst>
          </p:cNvPr>
          <p:cNvSpPr>
            <a:spLocks noGrp="1"/>
          </p:cNvSpPr>
          <p:nvPr>
            <p:ph type="title" idx="2"/>
          </p:nvPr>
        </p:nvSpPr>
        <p:spPr>
          <a:xfrm>
            <a:off x="713225" y="591880"/>
            <a:ext cx="6931160" cy="915900"/>
          </a:xfrm>
        </p:spPr>
        <p:txBody>
          <a:bodyPr/>
          <a:lstStyle/>
          <a:p>
            <a:r>
              <a:rPr lang="en-GB" sz="2600" dirty="0"/>
              <a:t>System Design and Architecture</a:t>
            </a:r>
            <a:endParaRPr lang="en-IN" sz="2600" dirty="0"/>
          </a:p>
        </p:txBody>
      </p:sp>
      <p:sp>
        <p:nvSpPr>
          <p:cNvPr id="7" name="Rectangle 3">
            <a:extLst>
              <a:ext uri="{FF2B5EF4-FFF2-40B4-BE49-F238E27FC236}">
                <a16:creationId xmlns:a16="http://schemas.microsoft.com/office/drawing/2014/main" id="{FA62ABFD-B50C-CB91-3A97-35ED9B7459CA}"/>
              </a:ext>
            </a:extLst>
          </p:cNvPr>
          <p:cNvSpPr>
            <a:spLocks noGrp="1" noChangeArrowheads="1"/>
          </p:cNvSpPr>
          <p:nvPr>
            <p:ph type="title"/>
          </p:nvPr>
        </p:nvSpPr>
        <p:spPr bwMode="auto">
          <a:xfrm>
            <a:off x="713225" y="1841044"/>
            <a:ext cx="737685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The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Smart Blind Stick</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functions as an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integrated system</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combining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sensors, a microcontroller, and feedback mechanisms</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to provide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real-time obstacle detection and navigation assistance</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for visually impaired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Ultrasonic sensors</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detect obstacles by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emitting sound waves</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and calculating the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distance based on reflection time</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A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microcontroller processes sensor inputs</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employs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decision-making algorithms</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and triggers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vibrations and sound alerts</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based on obstacle proximity.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Power management</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ensures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efficient battery usage</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with an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energy-saving mode</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during inactivity.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The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rechargeable battery</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is optimized for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extended operation</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to support prolonged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The stick follows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ergonomic design principles</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offering a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lightweight yet durable structure</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for easy handling and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daily usability</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The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architecture supports modular enhancements</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allowing future integration of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AI-based object recognition</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 and </a:t>
            </a:r>
            <a:r>
              <a:rPr kumimoji="0" lang="en-US" altLang="en-US" sz="1200" b="1"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IoT capabilities</a:t>
            </a:r>
            <a:r>
              <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endParaRPr>
          </a:p>
        </p:txBody>
      </p:sp>
    </p:spTree>
    <p:extLst>
      <p:ext uri="{BB962C8B-B14F-4D97-AF65-F5344CB8AC3E}">
        <p14:creationId xmlns:p14="http://schemas.microsoft.com/office/powerpoint/2010/main" val="3038289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Hardware Components</a:t>
            </a:r>
            <a:endParaRPr dirty="0"/>
          </a:p>
        </p:txBody>
      </p:sp>
      <p:graphicFrame>
        <p:nvGraphicFramePr>
          <p:cNvPr id="130" name="Google Shape;130;p27"/>
          <p:cNvGraphicFramePr/>
          <p:nvPr>
            <p:extLst>
              <p:ext uri="{D42A27DB-BD31-4B8C-83A1-F6EECF244321}">
                <p14:modId xmlns:p14="http://schemas.microsoft.com/office/powerpoint/2010/main" val="1612463309"/>
              </p:ext>
            </p:extLst>
          </p:nvPr>
        </p:nvGraphicFramePr>
        <p:xfrm>
          <a:off x="726750" y="1446951"/>
          <a:ext cx="7704000" cy="3528583"/>
        </p:xfrm>
        <a:graphic>
          <a:graphicData uri="http://schemas.openxmlformats.org/drawingml/2006/table">
            <a:tbl>
              <a:tblPr>
                <a:noFill/>
                <a:tableStyleId>{4CF4BA7B-6FE5-44DF-9EBE-25428AB8F4FC}</a:tableStyleId>
              </a:tblPr>
              <a:tblGrid>
                <a:gridCol w="2452575">
                  <a:extLst>
                    <a:ext uri="{9D8B030D-6E8A-4147-A177-3AD203B41FA5}">
                      <a16:colId xmlns:a16="http://schemas.microsoft.com/office/drawing/2014/main" val="20000"/>
                    </a:ext>
                  </a:extLst>
                </a:gridCol>
                <a:gridCol w="5251425">
                  <a:extLst>
                    <a:ext uri="{9D8B030D-6E8A-4147-A177-3AD203B41FA5}">
                      <a16:colId xmlns:a16="http://schemas.microsoft.com/office/drawing/2014/main" val="20001"/>
                    </a:ext>
                  </a:extLst>
                </a:gridCol>
              </a:tblGrid>
              <a:tr h="413036">
                <a:tc>
                  <a:txBody>
                    <a:bodyPr/>
                    <a:lstStyle/>
                    <a:p>
                      <a:pPr marL="0" lvl="0" indent="0" algn="l" rtl="0">
                        <a:spcBef>
                          <a:spcPts val="0"/>
                        </a:spcBef>
                        <a:spcAft>
                          <a:spcPts val="0"/>
                        </a:spcAft>
                        <a:buNone/>
                      </a:pPr>
                      <a:r>
                        <a:rPr lang="en" sz="1000" b="1" u="sng" dirty="0">
                          <a:solidFill>
                            <a:schemeClr val="dk1"/>
                          </a:solidFill>
                          <a:latin typeface="Arimo"/>
                          <a:ea typeface="Arimo"/>
                          <a:cs typeface="Arimo"/>
                          <a:sym typeface="Arimo"/>
                        </a:rPr>
                        <a:t>Ultrasonic Sensors</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GB" sz="1000" dirty="0">
                          <a:latin typeface="Arimo" panose="020B0604020202020204" charset="0"/>
                          <a:ea typeface="Arimo" panose="020B0604020202020204" charset="0"/>
                          <a:cs typeface="Arimo" panose="020B0604020202020204" charset="0"/>
                        </a:rPr>
                        <a:t>Emit sound waves and measure reflection time to detect obstacles within a range of 2 cm to 400 cm.</a:t>
                      </a:r>
                      <a:endParaRPr sz="1000" dirty="0">
                        <a:solidFill>
                          <a:schemeClr val="dk1"/>
                        </a:solidFill>
                        <a:latin typeface="Arimo" panose="020B0604020202020204" charset="0"/>
                        <a:ea typeface="Arimo" panose="020B0604020202020204" charset="0"/>
                        <a:cs typeface="Arimo" panose="020B0604020202020204" charset="0"/>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12095">
                <a:tc>
                  <a:txBody>
                    <a:bodyPr/>
                    <a:lstStyle/>
                    <a:p>
                      <a:pPr marL="0" lvl="0" indent="0" algn="l" rtl="0">
                        <a:spcBef>
                          <a:spcPts val="0"/>
                        </a:spcBef>
                        <a:spcAft>
                          <a:spcPts val="0"/>
                        </a:spcAft>
                        <a:buNone/>
                      </a:pPr>
                      <a:r>
                        <a:rPr lang="en" sz="1000" b="1" u="sng" dirty="0">
                          <a:solidFill>
                            <a:schemeClr val="dk1"/>
                          </a:solidFill>
                          <a:latin typeface="Arimo"/>
                          <a:ea typeface="Arimo"/>
                          <a:cs typeface="Arimo"/>
                          <a:sym typeface="Arimo"/>
                        </a:rPr>
                        <a:t>Infrared Sensors</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GB" sz="1000" b="0" i="0" u="none" strike="noStrike" cap="none" dirty="0">
                          <a:solidFill>
                            <a:srgbClr val="000000"/>
                          </a:solidFill>
                          <a:effectLst/>
                          <a:latin typeface="Arimo" panose="020B0604020202020204" charset="0"/>
                          <a:ea typeface="Arimo" panose="020B0604020202020204" charset="0"/>
                          <a:cs typeface="Arimo" panose="020B0604020202020204" charset="0"/>
                          <a:sym typeface="Arial"/>
                        </a:rPr>
                        <a:t>Utilized to detect surface variations like stairs or potholes, ensuring smoother navigation for users.</a:t>
                      </a:r>
                      <a:endParaRPr sz="600" dirty="0">
                        <a:solidFill>
                          <a:schemeClr val="dk1"/>
                        </a:solidFill>
                        <a:latin typeface="Arimo" panose="020B0604020202020204" charset="0"/>
                        <a:ea typeface="Arimo" panose="020B0604020202020204" charset="0"/>
                        <a:cs typeface="Arimo" panose="020B0604020202020204" charset="0"/>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2577">
                <a:tc>
                  <a:txBody>
                    <a:bodyPr/>
                    <a:lstStyle/>
                    <a:p>
                      <a:pPr marL="0" lvl="0" indent="0" algn="l" rtl="0">
                        <a:spcBef>
                          <a:spcPts val="0"/>
                        </a:spcBef>
                        <a:spcAft>
                          <a:spcPts val="0"/>
                        </a:spcAft>
                        <a:buNone/>
                      </a:pPr>
                      <a:r>
                        <a:rPr lang="en" sz="1000" b="1" u="sng" dirty="0">
                          <a:solidFill>
                            <a:schemeClr val="dk1"/>
                          </a:solidFill>
                          <a:latin typeface="Arimo"/>
                          <a:ea typeface="Arimo"/>
                          <a:cs typeface="Arimo"/>
                          <a:sym typeface="Arimo"/>
                        </a:rPr>
                        <a:t>Microcontroller</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IN" sz="1000" dirty="0">
                          <a:latin typeface="Arimo" panose="020B0604020202020204" charset="0"/>
                          <a:ea typeface="Arimo" panose="020B0604020202020204" charset="0"/>
                          <a:cs typeface="Arimo" panose="020B0604020202020204" charset="0"/>
                        </a:rPr>
                        <a:t>Processes sensor data and executes feedback algorithms for enhanced safety and mobility (e.g., Arduino Uno, ATmega328-PU)</a:t>
                      </a:r>
                      <a:endParaRPr sz="1000" dirty="0">
                        <a:solidFill>
                          <a:schemeClr val="dk1"/>
                        </a:solidFill>
                        <a:latin typeface="Arimo" panose="020B0604020202020204" charset="0"/>
                        <a:ea typeface="Arimo" panose="020B0604020202020204" charset="0"/>
                        <a:cs typeface="Arimo" panose="020B0604020202020204" charset="0"/>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30125">
                <a:tc>
                  <a:txBody>
                    <a:bodyPr/>
                    <a:lstStyle/>
                    <a:p>
                      <a:pPr marL="0" lvl="0" indent="0" algn="l" rtl="0">
                        <a:spcBef>
                          <a:spcPts val="0"/>
                        </a:spcBef>
                        <a:spcAft>
                          <a:spcPts val="0"/>
                        </a:spcAft>
                        <a:buNone/>
                      </a:pPr>
                      <a:r>
                        <a:rPr lang="en" sz="1000" b="1" u="sng" dirty="0">
                          <a:solidFill>
                            <a:schemeClr val="dk1"/>
                          </a:solidFill>
                          <a:latin typeface="Arimo"/>
                          <a:ea typeface="Arimo"/>
                          <a:cs typeface="Arimo"/>
                          <a:sym typeface="Arimo"/>
                        </a:rPr>
                        <a:t>Vibration Motors and Buzzer</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GB" sz="1000" dirty="0">
                          <a:latin typeface="Arimo" panose="020B0604020202020204" charset="0"/>
                          <a:ea typeface="Arimo" panose="020B0604020202020204" charset="0"/>
                          <a:cs typeface="Arimo" panose="020B0604020202020204" charset="0"/>
                        </a:rPr>
                        <a:t>Deliver tactile or auditory feedback based on obstacle proximity for quick user response</a:t>
                      </a:r>
                      <a:r>
                        <a:rPr lang="en-GB" sz="1000" dirty="0"/>
                        <a:t>.</a:t>
                      </a:r>
                      <a:endParaRPr sz="1000"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30125">
                <a:tc>
                  <a:txBody>
                    <a:bodyPr/>
                    <a:lstStyle/>
                    <a:p>
                      <a:pPr marL="0" lvl="0" indent="0" algn="l" rtl="0">
                        <a:spcBef>
                          <a:spcPts val="0"/>
                        </a:spcBef>
                        <a:spcAft>
                          <a:spcPts val="0"/>
                        </a:spcAft>
                        <a:buNone/>
                      </a:pPr>
                      <a:r>
                        <a:rPr lang="en" sz="1000" b="1" u="sng" dirty="0">
                          <a:solidFill>
                            <a:schemeClr val="dk1"/>
                          </a:solidFill>
                          <a:latin typeface="Arimo"/>
                          <a:ea typeface="Arimo"/>
                          <a:cs typeface="Arimo"/>
                          <a:sym typeface="Arimo"/>
                        </a:rPr>
                        <a:t>Water Sensor </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GB" sz="1000" b="0" i="0" u="none" strike="noStrike" cap="none" dirty="0">
                          <a:solidFill>
                            <a:srgbClr val="000000"/>
                          </a:solidFill>
                          <a:effectLst/>
                          <a:latin typeface="Arimo" panose="020B0604020202020204" charset="0"/>
                          <a:ea typeface="Arimo" panose="020B0604020202020204" charset="0"/>
                          <a:cs typeface="Arimo" panose="020B0604020202020204" charset="0"/>
                          <a:sym typeface="Arial"/>
                        </a:rPr>
                        <a:t>Detects water on the ground to alert users about potential hazards.</a:t>
                      </a:r>
                      <a:endParaRPr sz="600" dirty="0">
                        <a:solidFill>
                          <a:schemeClr val="dk1"/>
                        </a:solidFill>
                        <a:latin typeface="Arimo" panose="020B0604020202020204" charset="0"/>
                        <a:ea typeface="Arimo" panose="020B0604020202020204" charset="0"/>
                        <a:cs typeface="Arimo" panose="020B0604020202020204" charset="0"/>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30125">
                <a:tc>
                  <a:txBody>
                    <a:bodyPr/>
                    <a:lstStyle/>
                    <a:p>
                      <a:pPr marL="0" lvl="0" indent="0" algn="l" rtl="0">
                        <a:spcBef>
                          <a:spcPts val="0"/>
                        </a:spcBef>
                        <a:spcAft>
                          <a:spcPts val="0"/>
                        </a:spcAft>
                        <a:buNone/>
                      </a:pPr>
                      <a:r>
                        <a:rPr lang="en" sz="1000" b="1" u="sng" dirty="0">
                          <a:solidFill>
                            <a:schemeClr val="dk1"/>
                          </a:solidFill>
                          <a:latin typeface="Arimo"/>
                          <a:ea typeface="Arimo"/>
                          <a:cs typeface="Arimo"/>
                          <a:sym typeface="Arimo"/>
                        </a:rPr>
                        <a:t>Sound Detector </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GB" sz="1000" b="0" i="0" u="none" strike="noStrike" cap="none" dirty="0">
                          <a:solidFill>
                            <a:srgbClr val="000000"/>
                          </a:solidFill>
                          <a:effectLst/>
                          <a:latin typeface="Arimo" panose="020B0604020202020204" charset="0"/>
                          <a:ea typeface="Arimo" panose="020B0604020202020204" charset="0"/>
                          <a:cs typeface="Arimo" panose="020B0604020202020204" charset="0"/>
                          <a:sym typeface="Arial"/>
                        </a:rPr>
                        <a:t>Measures ambient noise levels or detects specific sounds for added functionality</a:t>
                      </a:r>
                      <a:endParaRPr sz="600" dirty="0">
                        <a:solidFill>
                          <a:schemeClr val="dk1"/>
                        </a:solidFill>
                        <a:latin typeface="Arimo" panose="020B0604020202020204" charset="0"/>
                        <a:ea typeface="Arimo" panose="020B0604020202020204" charset="0"/>
                        <a:cs typeface="Arimo" panose="020B0604020202020204" charset="0"/>
                        <a:sym typeface="Arimo"/>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30125">
                <a:tc>
                  <a:txBody>
                    <a:bodyPr/>
                    <a:lstStyle/>
                    <a:p>
                      <a:pPr marL="0" lvl="0" indent="0" algn="l" rtl="0">
                        <a:spcBef>
                          <a:spcPts val="0"/>
                        </a:spcBef>
                        <a:spcAft>
                          <a:spcPts val="0"/>
                        </a:spcAft>
                        <a:buNone/>
                      </a:pPr>
                      <a:r>
                        <a:rPr lang="en-GB" sz="1000" b="1" u="sng" dirty="0">
                          <a:solidFill>
                            <a:schemeClr val="dk1"/>
                          </a:solidFill>
                          <a:latin typeface="Arimo"/>
                          <a:ea typeface="Arimo"/>
                          <a:cs typeface="Arimo"/>
                          <a:sym typeface="Arimo"/>
                        </a:rPr>
                        <a:t>GPS Module</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GB" sz="1000" b="0" i="0" u="none" strike="noStrike" cap="none" dirty="0">
                          <a:solidFill>
                            <a:srgbClr val="000000"/>
                          </a:solidFill>
                          <a:effectLst/>
                          <a:latin typeface="Arimo" panose="020B0604020202020204" charset="0"/>
                          <a:ea typeface="Arimo" panose="020B0604020202020204" charset="0"/>
                          <a:cs typeface="Arimo" panose="020B0604020202020204" charset="0"/>
                          <a:sym typeface="Arial"/>
                        </a:rPr>
                        <a:t>Track location for additional navigational support.</a:t>
                      </a:r>
                      <a:endParaRPr sz="600" dirty="0">
                        <a:solidFill>
                          <a:schemeClr val="dk1"/>
                        </a:solidFill>
                        <a:latin typeface="Arimo" panose="020B0604020202020204" charset="0"/>
                        <a:ea typeface="Arimo" panose="020B0604020202020204" charset="0"/>
                        <a:cs typeface="Arimo" panose="020B0604020202020204" charset="0"/>
                        <a:sym typeface="Arimo"/>
                      </a:endParaRPr>
                    </a:p>
                  </a:txBody>
                  <a:tcPr marL="91425" marR="91425" marT="0" marB="0" anchor="ctr">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extLst>
                  <a:ext uri="{0D108BD9-81ED-4DB2-BD59-A6C34878D82A}">
                    <a16:rowId xmlns:a16="http://schemas.microsoft.com/office/drawing/2014/main" val="4172962009"/>
                  </a:ext>
                </a:extLst>
              </a:tr>
              <a:tr h="330125">
                <a:tc>
                  <a:txBody>
                    <a:bodyPr/>
                    <a:lstStyle/>
                    <a:p>
                      <a:pPr marL="0" lvl="0" indent="0" algn="l" rtl="0">
                        <a:spcBef>
                          <a:spcPts val="0"/>
                        </a:spcBef>
                        <a:spcAft>
                          <a:spcPts val="0"/>
                        </a:spcAft>
                        <a:buNone/>
                      </a:pPr>
                      <a:r>
                        <a:rPr lang="en-GB" sz="1000" b="1" u="sng" dirty="0">
                          <a:solidFill>
                            <a:schemeClr val="dk1"/>
                          </a:solidFill>
                          <a:latin typeface="Arimo"/>
                          <a:ea typeface="Arimo"/>
                          <a:cs typeface="Arimo"/>
                          <a:sym typeface="Arimo"/>
                        </a:rPr>
                        <a:t>Switches and Buttons</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GB" sz="1000" b="0" i="0" u="none" strike="noStrike" cap="none" dirty="0">
                          <a:solidFill>
                            <a:srgbClr val="000000"/>
                          </a:solidFill>
                          <a:effectLst/>
                          <a:latin typeface="Arimo" panose="020B0604020202020204" charset="0"/>
                          <a:ea typeface="Arimo" panose="020B0604020202020204" charset="0"/>
                          <a:cs typeface="Arimo" panose="020B0604020202020204" charset="0"/>
                          <a:sym typeface="Arial"/>
                        </a:rPr>
                        <a:t>Enable user interactions for controlling the stick's functionalities.</a:t>
                      </a:r>
                      <a:endParaRPr sz="600" dirty="0">
                        <a:solidFill>
                          <a:schemeClr val="dk1"/>
                        </a:solidFill>
                        <a:latin typeface="Arimo" panose="020B0604020202020204" charset="0"/>
                        <a:ea typeface="Arimo" panose="020B0604020202020204" charset="0"/>
                        <a:cs typeface="Arimo" panose="020B0604020202020204" charset="0"/>
                        <a:sym typeface="Arimo"/>
                      </a:endParaRPr>
                    </a:p>
                  </a:txBody>
                  <a:tcPr marL="91425" marR="91425" marT="0" marB="0" anchor="ctr">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extLst>
                  <a:ext uri="{0D108BD9-81ED-4DB2-BD59-A6C34878D82A}">
                    <a16:rowId xmlns:a16="http://schemas.microsoft.com/office/drawing/2014/main" val="1824834763"/>
                  </a:ext>
                </a:extLst>
              </a:tr>
              <a:tr h="330125">
                <a:tc>
                  <a:txBody>
                    <a:bodyPr/>
                    <a:lstStyle/>
                    <a:p>
                      <a:pPr marL="0" lvl="0" indent="0" algn="l" rtl="0">
                        <a:spcBef>
                          <a:spcPts val="0"/>
                        </a:spcBef>
                        <a:spcAft>
                          <a:spcPts val="0"/>
                        </a:spcAft>
                        <a:buNone/>
                      </a:pPr>
                      <a:r>
                        <a:rPr lang="en-GB" sz="1000" b="1" u="sng" dirty="0">
                          <a:solidFill>
                            <a:schemeClr val="dk1"/>
                          </a:solidFill>
                          <a:latin typeface="Arimo"/>
                          <a:ea typeface="Arimo"/>
                          <a:cs typeface="Arimo"/>
                          <a:sym typeface="Arimo"/>
                        </a:rPr>
                        <a:t>HC-05 Bluetooth Module</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GB" sz="1000" b="0" i="0" u="none" strike="noStrike" cap="none" dirty="0">
                          <a:solidFill>
                            <a:srgbClr val="000000"/>
                          </a:solidFill>
                          <a:effectLst/>
                          <a:latin typeface="Arimo" panose="020B0604020202020204" charset="0"/>
                          <a:ea typeface="Arimo" panose="020B0604020202020204" charset="0"/>
                          <a:cs typeface="Arimo" panose="020B0604020202020204" charset="0"/>
                          <a:sym typeface="Arial"/>
                        </a:rPr>
                        <a:t>Allows for wireless communication with other devices.</a:t>
                      </a:r>
                      <a:endParaRPr sz="200" dirty="0">
                        <a:solidFill>
                          <a:schemeClr val="dk1"/>
                        </a:solidFill>
                        <a:latin typeface="Arimo" panose="020B0604020202020204" charset="0"/>
                        <a:ea typeface="Arimo" panose="020B0604020202020204" charset="0"/>
                        <a:cs typeface="Arimo" panose="020B0604020202020204" charset="0"/>
                        <a:sym typeface="Arimo"/>
                      </a:endParaRPr>
                    </a:p>
                  </a:txBody>
                  <a:tcPr marL="91425" marR="91425" marT="0" marB="0" anchor="ctr">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extLst>
                  <a:ext uri="{0D108BD9-81ED-4DB2-BD59-A6C34878D82A}">
                    <a16:rowId xmlns:a16="http://schemas.microsoft.com/office/drawing/2014/main" val="1124160003"/>
                  </a:ext>
                </a:extLst>
              </a:tr>
              <a:tr h="330125">
                <a:tc>
                  <a:txBody>
                    <a:bodyPr/>
                    <a:lstStyle/>
                    <a:p>
                      <a:pPr marL="0" lvl="0" indent="0" algn="l" rtl="0">
                        <a:spcBef>
                          <a:spcPts val="0"/>
                        </a:spcBef>
                        <a:spcAft>
                          <a:spcPts val="0"/>
                        </a:spcAft>
                        <a:buNone/>
                      </a:pPr>
                      <a:r>
                        <a:rPr lang="en-GB" sz="1000" b="1" u="sng" dirty="0">
                          <a:solidFill>
                            <a:schemeClr val="dk1"/>
                          </a:solidFill>
                          <a:latin typeface="Arimo"/>
                          <a:ea typeface="Arimo"/>
                          <a:cs typeface="Arimo"/>
                          <a:sym typeface="Arimo"/>
                        </a:rPr>
                        <a:t>Rechargeable Battery</a:t>
                      </a:r>
                      <a:endParaRPr sz="1000" b="1" u="sng" dirty="0">
                        <a:solidFill>
                          <a:schemeClr val="dk1"/>
                        </a:solidFill>
                        <a:latin typeface="Arimo"/>
                        <a:ea typeface="Arimo"/>
                        <a:cs typeface="Arimo"/>
                        <a:sym typeface="Arimo"/>
                      </a:endParaRPr>
                    </a:p>
                  </a:txBody>
                  <a:tcPr marL="91425" marR="91425" marT="0" marB="0" anchor="ctr">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GB" sz="1000" dirty="0">
                          <a:latin typeface="Arimo" panose="020B0604020202020204" charset="0"/>
                          <a:ea typeface="Arimo" panose="020B0604020202020204" charset="0"/>
                          <a:cs typeface="Arimo" panose="020B0604020202020204" charset="0"/>
                        </a:rPr>
                        <a:t>Ensures prolonged operation with energy-efficient circuitry and a low-power mode.</a:t>
                      </a:r>
                      <a:endParaRPr sz="1000" dirty="0">
                        <a:solidFill>
                          <a:schemeClr val="dk1"/>
                        </a:solidFill>
                        <a:latin typeface="Arimo" panose="020B0604020202020204" charset="0"/>
                        <a:ea typeface="Arimo" panose="020B0604020202020204" charset="0"/>
                        <a:cs typeface="Arimo" panose="020B0604020202020204" charset="0"/>
                        <a:sym typeface="Arimo"/>
                      </a:endParaRPr>
                    </a:p>
                  </a:txBody>
                  <a:tcPr marL="91425" marR="91425" marT="0" marB="0" anchor="ctr">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3796357381"/>
                  </a:ext>
                </a:extLst>
              </a:tr>
            </a:tbl>
          </a:graphicData>
        </a:graphic>
      </p:graphicFrame>
      <p:cxnSp>
        <p:nvCxnSpPr>
          <p:cNvPr id="134" name="Google Shape;134;p27"/>
          <p:cNvCxnSpPr/>
          <p:nvPr/>
        </p:nvCxnSpPr>
        <p:spPr>
          <a:xfrm>
            <a:off x="713250" y="1279575"/>
            <a:ext cx="77175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95103-C6B1-FE25-BF30-F0CF6F25B79C}"/>
              </a:ext>
            </a:extLst>
          </p:cNvPr>
          <p:cNvSpPr>
            <a:spLocks noGrp="1"/>
          </p:cNvSpPr>
          <p:nvPr>
            <p:ph type="title"/>
          </p:nvPr>
        </p:nvSpPr>
        <p:spPr/>
        <p:txBody>
          <a:bodyPr/>
          <a:lstStyle/>
          <a:p>
            <a:r>
              <a:rPr lang="en-GB" dirty="0"/>
              <a:t>Circuit Design and Hardware Implementations</a:t>
            </a:r>
            <a:endParaRPr lang="en-IN" dirty="0"/>
          </a:p>
        </p:txBody>
      </p:sp>
      <p:cxnSp>
        <p:nvCxnSpPr>
          <p:cNvPr id="11" name="Google Shape;207;p33">
            <a:extLst>
              <a:ext uri="{FF2B5EF4-FFF2-40B4-BE49-F238E27FC236}">
                <a16:creationId xmlns:a16="http://schemas.microsoft.com/office/drawing/2014/main" id="{65A1A019-9132-4D8C-21E5-68068C89EB43}"/>
              </a:ext>
            </a:extLst>
          </p:cNvPr>
          <p:cNvCxnSpPr/>
          <p:nvPr/>
        </p:nvCxnSpPr>
        <p:spPr>
          <a:xfrm>
            <a:off x="713250" y="1279575"/>
            <a:ext cx="7717500" cy="0"/>
          </a:xfrm>
          <a:prstGeom prst="straightConnector1">
            <a:avLst/>
          </a:prstGeom>
          <a:noFill/>
          <a:ln w="19050" cap="flat" cmpd="sng">
            <a:solidFill>
              <a:schemeClr val="dk1"/>
            </a:solidFill>
            <a:prstDash val="solid"/>
            <a:round/>
            <a:headEnd type="none" w="med" len="med"/>
            <a:tailEnd type="none" w="med" len="med"/>
          </a:ln>
        </p:spPr>
      </p:cxnSp>
      <p:sp>
        <p:nvSpPr>
          <p:cNvPr id="13" name="TextBox 12">
            <a:extLst>
              <a:ext uri="{FF2B5EF4-FFF2-40B4-BE49-F238E27FC236}">
                <a16:creationId xmlns:a16="http://schemas.microsoft.com/office/drawing/2014/main" id="{15214767-490E-2DF3-E3CE-9B621C4F0A8D}"/>
              </a:ext>
            </a:extLst>
          </p:cNvPr>
          <p:cNvSpPr txBox="1"/>
          <p:nvPr/>
        </p:nvSpPr>
        <p:spPr>
          <a:xfrm>
            <a:off x="720000" y="1446951"/>
            <a:ext cx="9533472" cy="3328860"/>
          </a:xfrm>
          <a:prstGeom prst="rect">
            <a:avLst/>
          </a:prstGeom>
          <a:noFill/>
        </p:spPr>
        <p:txBody>
          <a:bodyPr wrap="square" rtlCol="0">
            <a:spAutoFit/>
          </a:bodyPr>
          <a:lstStyle/>
          <a:p>
            <a:pPr marL="342900" indent="-342900" rtl="0" fontAlgn="base">
              <a:lnSpc>
                <a:spcPct val="200000"/>
              </a:lnSpc>
              <a:buFont typeface="+mj-lt"/>
              <a:buAutoNum type="arabicPeriod"/>
            </a:pPr>
            <a:r>
              <a:rPr lang="en-GB" sz="1800" b="1" i="0" u="none" strike="noStrike" dirty="0">
                <a:solidFill>
                  <a:srgbClr val="000000"/>
                </a:solidFill>
                <a:effectLst/>
                <a:latin typeface="Arimo" panose="020B0604020202020204" charset="0"/>
                <a:ea typeface="Arimo" panose="020B0604020202020204" charset="0"/>
                <a:cs typeface="Arimo" panose="020B0604020202020204" charset="0"/>
              </a:rPr>
              <a:t>Circuit Framework</a:t>
            </a:r>
            <a:r>
              <a:rPr lang="en-GB" sz="1800" dirty="0">
                <a:latin typeface="Arimo" panose="020B0604020202020204" charset="0"/>
                <a:ea typeface="Arimo" panose="020B0604020202020204" charset="0"/>
                <a:cs typeface="Arimo" panose="020B0604020202020204" charset="0"/>
              </a:rPr>
              <a:t> </a:t>
            </a:r>
          </a:p>
          <a:p>
            <a:pPr marL="342900" indent="-342900" rtl="0" fontAlgn="base">
              <a:lnSpc>
                <a:spcPct val="200000"/>
              </a:lnSpc>
              <a:buFont typeface="+mj-lt"/>
              <a:buAutoNum type="arabicPeriod"/>
            </a:pPr>
            <a:r>
              <a:rPr lang="en-GB" sz="1800" b="1" i="0" u="none" strike="noStrike" dirty="0">
                <a:solidFill>
                  <a:srgbClr val="000000"/>
                </a:solidFill>
                <a:effectLst/>
                <a:latin typeface="Arimo" panose="020B0604020202020204" charset="0"/>
                <a:ea typeface="Arimo" panose="020B0604020202020204" charset="0"/>
                <a:cs typeface="Arimo" panose="020B0604020202020204" charset="0"/>
              </a:rPr>
              <a:t>Signal Flow </a:t>
            </a:r>
          </a:p>
          <a:p>
            <a:pPr marL="342900" indent="-342900" rtl="0" fontAlgn="base">
              <a:lnSpc>
                <a:spcPct val="200000"/>
              </a:lnSpc>
              <a:buFont typeface="+mj-lt"/>
              <a:buAutoNum type="arabicPeriod"/>
            </a:pPr>
            <a:r>
              <a:rPr lang="en-GB" sz="1800" b="1" i="0" u="none" strike="noStrike" dirty="0">
                <a:solidFill>
                  <a:srgbClr val="000000"/>
                </a:solidFill>
                <a:effectLst/>
                <a:latin typeface="Arimo" panose="020B0604020202020204" charset="0"/>
                <a:ea typeface="Arimo" panose="020B0604020202020204" charset="0"/>
                <a:cs typeface="Arimo" panose="020B0604020202020204" charset="0"/>
              </a:rPr>
              <a:t>Power Management </a:t>
            </a:r>
          </a:p>
          <a:p>
            <a:pPr marL="342900" indent="-342900" rtl="0" fontAlgn="base">
              <a:lnSpc>
                <a:spcPct val="200000"/>
              </a:lnSpc>
              <a:buFont typeface="+mj-lt"/>
              <a:buAutoNum type="arabicPeriod"/>
            </a:pPr>
            <a:r>
              <a:rPr lang="en-GB" sz="1800" b="1" i="0" u="none" strike="noStrike" dirty="0">
                <a:solidFill>
                  <a:srgbClr val="000000"/>
                </a:solidFill>
                <a:effectLst/>
                <a:latin typeface="Arimo" panose="020B0604020202020204" charset="0"/>
                <a:ea typeface="Arimo" panose="020B0604020202020204" charset="0"/>
                <a:cs typeface="Arimo" panose="020B0604020202020204" charset="0"/>
              </a:rPr>
              <a:t>Hardware Assembly </a:t>
            </a:r>
          </a:p>
          <a:p>
            <a:pPr marL="342900" indent="-342900" rtl="0" fontAlgn="base">
              <a:lnSpc>
                <a:spcPct val="200000"/>
              </a:lnSpc>
              <a:buFont typeface="+mj-lt"/>
              <a:buAutoNum type="arabicPeriod"/>
            </a:pPr>
            <a:r>
              <a:rPr lang="en-GB" sz="1800" b="1" i="0" u="none" strike="noStrike" dirty="0">
                <a:solidFill>
                  <a:srgbClr val="000000"/>
                </a:solidFill>
                <a:effectLst/>
                <a:latin typeface="Arimo" panose="020B0604020202020204" charset="0"/>
                <a:ea typeface="Arimo" panose="020B0604020202020204" charset="0"/>
                <a:cs typeface="Arimo" panose="020B0604020202020204" charset="0"/>
              </a:rPr>
              <a:t>Testing Procedures </a:t>
            </a:r>
          </a:p>
          <a:p>
            <a:pPr marL="342900" indent="-342900" rtl="0" fontAlgn="base">
              <a:lnSpc>
                <a:spcPct val="200000"/>
              </a:lnSpc>
              <a:buFont typeface="+mj-lt"/>
              <a:buAutoNum type="arabicPeriod"/>
            </a:pPr>
            <a:r>
              <a:rPr lang="en-GB" sz="1800" b="1" i="0" u="none" strike="noStrike" dirty="0">
                <a:solidFill>
                  <a:srgbClr val="000000"/>
                </a:solidFill>
                <a:effectLst/>
                <a:latin typeface="Arimo" panose="020B0604020202020204" charset="0"/>
                <a:ea typeface="Arimo" panose="020B0604020202020204" charset="0"/>
                <a:cs typeface="Arimo" panose="020B0604020202020204" charset="0"/>
              </a:rPr>
              <a:t>Calibration and Stability</a:t>
            </a:r>
            <a:endParaRPr lang="en-IN" dirty="0">
              <a:latin typeface="Arimo" panose="020B0604020202020204" charset="0"/>
              <a:ea typeface="Arimo" panose="020B0604020202020204" charset="0"/>
              <a:cs typeface="Arimo" panose="020B0604020202020204" charset="0"/>
            </a:endParaRPr>
          </a:p>
        </p:txBody>
      </p:sp>
      <p:sp>
        <p:nvSpPr>
          <p:cNvPr id="15" name="Rectangle: Rounded Corners 14">
            <a:extLst>
              <a:ext uri="{FF2B5EF4-FFF2-40B4-BE49-F238E27FC236}">
                <a16:creationId xmlns:a16="http://schemas.microsoft.com/office/drawing/2014/main" id="{3515B56F-32F4-F8DB-8F66-ACE3F4AC349B}"/>
              </a:ext>
            </a:extLst>
          </p:cNvPr>
          <p:cNvSpPr/>
          <p:nvPr/>
        </p:nvSpPr>
        <p:spPr>
          <a:xfrm>
            <a:off x="4425696" y="1720729"/>
            <a:ext cx="4437888" cy="313877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pic>
        <p:nvPicPr>
          <p:cNvPr id="3074" name="Picture 2">
            <a:extLst>
              <a:ext uri="{FF2B5EF4-FFF2-40B4-BE49-F238E27FC236}">
                <a16:creationId xmlns:a16="http://schemas.microsoft.com/office/drawing/2014/main" id="{AE30377C-7628-CFBE-E8B3-52A2D23F5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987906"/>
            <a:ext cx="3953065" cy="2616094"/>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A8A7ECB1-A60F-2C35-B3F1-92882F7533E8}"/>
              </a:ext>
            </a:extLst>
          </p:cNvPr>
          <p:cNvSpPr/>
          <p:nvPr/>
        </p:nvSpPr>
        <p:spPr>
          <a:xfrm>
            <a:off x="7071360" y="4340352"/>
            <a:ext cx="1231392" cy="263648"/>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9534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pSp>
        <p:nvGrpSpPr>
          <p:cNvPr id="248" name="Google Shape;248;p36"/>
          <p:cNvGrpSpPr/>
          <p:nvPr/>
        </p:nvGrpSpPr>
        <p:grpSpPr>
          <a:xfrm>
            <a:off x="4656886" y="1585216"/>
            <a:ext cx="4279850" cy="3279391"/>
            <a:chOff x="331763" y="414153"/>
            <a:chExt cx="6903246" cy="5019697"/>
          </a:xfrm>
        </p:grpSpPr>
        <p:sp>
          <p:nvSpPr>
            <p:cNvPr id="249" name="Google Shape;249;p36"/>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6"/>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6"/>
            <p:cNvSpPr/>
            <p:nvPr/>
          </p:nvSpPr>
          <p:spPr>
            <a:xfrm>
              <a:off x="547300" y="600323"/>
              <a:ext cx="6472159" cy="3981525"/>
            </a:xfrm>
            <a:custGeom>
              <a:avLst/>
              <a:gdLst/>
              <a:ahLst/>
              <a:cxnLst/>
              <a:rect l="l" t="t" r="r" b="b"/>
              <a:pathLst>
                <a:path w="232665" h="165707" extrusionOk="0">
                  <a:moveTo>
                    <a:pt x="1" y="1"/>
                  </a:moveTo>
                  <a:lnTo>
                    <a:pt x="1" y="24307"/>
                  </a:lnTo>
                  <a:lnTo>
                    <a:pt x="1" y="165707"/>
                  </a:lnTo>
                  <a:lnTo>
                    <a:pt x="232665" y="165707"/>
                  </a:lnTo>
                  <a:lnTo>
                    <a:pt x="232665" y="121532"/>
                  </a:lnTo>
                  <a:lnTo>
                    <a:pt x="2326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6"/>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36"/>
          <p:cNvSpPr txBox="1">
            <a:spLocks noGrp="1"/>
          </p:cNvSpPr>
          <p:nvPr>
            <p:ph type="title"/>
          </p:nvPr>
        </p:nvSpPr>
        <p:spPr>
          <a:xfrm>
            <a:off x="720000" y="539488"/>
            <a:ext cx="3597900" cy="106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Flow Chart of Software Logic</a:t>
            </a:r>
            <a:endParaRPr dirty="0"/>
          </a:p>
        </p:txBody>
      </p:sp>
      <p:sp>
        <p:nvSpPr>
          <p:cNvPr id="255" name="Google Shape;255;p36"/>
          <p:cNvSpPr txBox="1">
            <a:spLocks noGrp="1"/>
          </p:cNvSpPr>
          <p:nvPr>
            <p:ph type="subTitle" idx="1"/>
          </p:nvPr>
        </p:nvSpPr>
        <p:spPr>
          <a:xfrm>
            <a:off x="522909" y="1602945"/>
            <a:ext cx="3794991" cy="805200"/>
          </a:xfrm>
          <a:prstGeom prst="rect">
            <a:avLst/>
          </a:prstGeom>
        </p:spPr>
        <p:txBody>
          <a:bodyPr spcFirstLastPara="1" wrap="square" lIns="91425" tIns="91425" rIns="91425" bIns="91425" anchor="t" anchorCtr="0">
            <a:noAutofit/>
          </a:bodyPr>
          <a:lstStyle/>
          <a:p>
            <a:pPr marL="152400" indent="0" rtl="0" fontAlgn="base"/>
            <a:r>
              <a:rPr lang="en-GB" b="0" i="0" u="none" strike="noStrike" dirty="0">
                <a:solidFill>
                  <a:srgbClr val="000000"/>
                </a:solidFill>
                <a:effectLst/>
                <a:latin typeface="Arimo" panose="020B0604020202020204" charset="0"/>
                <a:ea typeface="Arimo" panose="020B0604020202020204" charset="0"/>
                <a:cs typeface="Arimo" panose="020B0604020202020204" charset="0"/>
              </a:rPr>
              <a:t>The software for the</a:t>
            </a:r>
            <a:r>
              <a:rPr lang="en-GB" b="1" i="0" u="none" strike="noStrike" dirty="0">
                <a:solidFill>
                  <a:srgbClr val="000000"/>
                </a:solidFill>
                <a:effectLst/>
                <a:latin typeface="Arimo" panose="020B0604020202020204" charset="0"/>
                <a:ea typeface="Arimo" panose="020B0604020202020204" charset="0"/>
                <a:cs typeface="Arimo" panose="020B0604020202020204" charset="0"/>
              </a:rPr>
              <a:t> Smart Blind Stick</a:t>
            </a:r>
            <a:r>
              <a:rPr lang="en-GB" b="0" i="0" u="none" strike="noStrike" dirty="0">
                <a:solidFill>
                  <a:srgbClr val="000000"/>
                </a:solidFill>
                <a:effectLst/>
                <a:latin typeface="Arimo" panose="020B0604020202020204" charset="0"/>
                <a:ea typeface="Arimo" panose="020B0604020202020204" charset="0"/>
                <a:cs typeface="Arimo" panose="020B0604020202020204" charset="0"/>
              </a:rPr>
              <a:t> leverages embedded programming to ensure real-time obstacle detection, feedback activation, and efficient system operation.</a:t>
            </a:r>
          </a:p>
        </p:txBody>
      </p:sp>
      <p:cxnSp>
        <p:nvCxnSpPr>
          <p:cNvPr id="259" name="Google Shape;259;p36"/>
          <p:cNvCxnSpPr/>
          <p:nvPr/>
        </p:nvCxnSpPr>
        <p:spPr>
          <a:xfrm>
            <a:off x="713225" y="2584712"/>
            <a:ext cx="3556500" cy="0"/>
          </a:xfrm>
          <a:prstGeom prst="straightConnector1">
            <a:avLst/>
          </a:prstGeom>
          <a:noFill/>
          <a:ln w="19050" cap="flat" cmpd="sng">
            <a:solidFill>
              <a:schemeClr val="dk1"/>
            </a:solidFill>
            <a:prstDash val="solid"/>
            <a:round/>
            <a:headEnd type="none" w="med" len="med"/>
            <a:tailEnd type="none" w="med" len="med"/>
          </a:ln>
        </p:spPr>
      </p:cxnSp>
      <p:pic>
        <p:nvPicPr>
          <p:cNvPr id="4098" name="Picture 2">
            <a:extLst>
              <a:ext uri="{FF2B5EF4-FFF2-40B4-BE49-F238E27FC236}">
                <a16:creationId xmlns:a16="http://schemas.microsoft.com/office/drawing/2014/main" id="{78FA9029-C3D2-0B95-29B5-CF3C8E253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7342" y="1706843"/>
            <a:ext cx="4098039" cy="26011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2" name="Google Shape;202;p33"/>
          <p:cNvSpPr txBox="1">
            <a:spLocks noGrp="1"/>
          </p:cNvSpPr>
          <p:nvPr>
            <p:ph type="subTitle" idx="5"/>
          </p:nvPr>
        </p:nvSpPr>
        <p:spPr>
          <a:xfrm>
            <a:off x="713225" y="2017000"/>
            <a:ext cx="3767100" cy="44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Obstacle Detection Algorithm</a:t>
            </a:r>
            <a:endParaRPr dirty="0"/>
          </a:p>
        </p:txBody>
      </p:sp>
      <p:sp>
        <p:nvSpPr>
          <p:cNvPr id="203" name="Google Shape;203;p33"/>
          <p:cNvSpPr txBox="1">
            <a:spLocks noGrp="1"/>
          </p:cNvSpPr>
          <p:nvPr>
            <p:ph type="subTitle" idx="6"/>
          </p:nvPr>
        </p:nvSpPr>
        <p:spPr>
          <a:xfrm>
            <a:off x="720000" y="3021802"/>
            <a:ext cx="3767100" cy="44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Water Detection Logic</a:t>
            </a:r>
            <a:endParaRPr dirty="0"/>
          </a:p>
        </p:txBody>
      </p:sp>
      <p:sp>
        <p:nvSpPr>
          <p:cNvPr id="204" name="Google Shape;204;p33"/>
          <p:cNvSpPr txBox="1">
            <a:spLocks noGrp="1"/>
          </p:cNvSpPr>
          <p:nvPr>
            <p:ph type="subTitle" idx="7"/>
          </p:nvPr>
        </p:nvSpPr>
        <p:spPr>
          <a:xfrm>
            <a:off x="4663677" y="2017000"/>
            <a:ext cx="3767100" cy="44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Threshold-based Feedback System</a:t>
            </a:r>
            <a:endParaRPr dirty="0"/>
          </a:p>
        </p:txBody>
      </p:sp>
      <p:sp>
        <p:nvSpPr>
          <p:cNvPr id="205" name="Google Shape;205;p33"/>
          <p:cNvSpPr txBox="1">
            <a:spLocks noGrp="1"/>
          </p:cNvSpPr>
          <p:nvPr>
            <p:ph type="subTitle" idx="8"/>
          </p:nvPr>
        </p:nvSpPr>
        <p:spPr>
          <a:xfrm>
            <a:off x="4656875" y="3021322"/>
            <a:ext cx="3767100" cy="44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Emergency Alert Mechanism</a:t>
            </a:r>
            <a:endParaRPr dirty="0"/>
          </a:p>
        </p:txBody>
      </p:sp>
      <p:sp>
        <p:nvSpPr>
          <p:cNvPr id="206" name="Google Shape;206;p3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Software Algorithms</a:t>
            </a:r>
            <a:endParaRPr dirty="0"/>
          </a:p>
        </p:txBody>
      </p:sp>
      <p:cxnSp>
        <p:nvCxnSpPr>
          <p:cNvPr id="207" name="Google Shape;207;p33"/>
          <p:cNvCxnSpPr/>
          <p:nvPr/>
        </p:nvCxnSpPr>
        <p:spPr>
          <a:xfrm>
            <a:off x="713250" y="1279575"/>
            <a:ext cx="7717500" cy="0"/>
          </a:xfrm>
          <a:prstGeom prst="straightConnector1">
            <a:avLst/>
          </a:prstGeom>
          <a:noFill/>
          <a:ln w="19050" cap="flat" cmpd="sng">
            <a:solidFill>
              <a:schemeClr val="dk1"/>
            </a:solidFill>
            <a:prstDash val="solid"/>
            <a:round/>
            <a:headEnd type="none" w="med" len="med"/>
            <a:tailEnd type="none" w="med" len="med"/>
          </a:ln>
        </p:spPr>
      </p:cxnSp>
      <p:sp>
        <p:nvSpPr>
          <p:cNvPr id="2" name="Google Shape;203;p33">
            <a:extLst>
              <a:ext uri="{FF2B5EF4-FFF2-40B4-BE49-F238E27FC236}">
                <a16:creationId xmlns:a16="http://schemas.microsoft.com/office/drawing/2014/main" id="{7E8BC4D4-7AAE-604D-908B-781E3BC8F86B}"/>
              </a:ext>
            </a:extLst>
          </p:cNvPr>
          <p:cNvSpPr txBox="1">
            <a:spLocks/>
          </p:cNvSpPr>
          <p:nvPr/>
        </p:nvSpPr>
        <p:spPr>
          <a:xfrm>
            <a:off x="720000" y="3988577"/>
            <a:ext cx="3767100" cy="448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600" b="1" i="0" u="none" strike="noStrike" cap="none">
                <a:solidFill>
                  <a:schemeClr val="dk1"/>
                </a:solidFill>
                <a:latin typeface="Outfit"/>
                <a:ea typeface="Outfit"/>
                <a:cs typeface="Outfit"/>
                <a:sym typeface="Outfit"/>
              </a:defRPr>
            </a:lvl1pPr>
            <a:lvl2pPr marL="914400" marR="0" lvl="1"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marL="0" indent="0"/>
            <a:r>
              <a:rPr lang="en-GB" dirty="0"/>
              <a:t>Battery Optimization Algorithm</a:t>
            </a:r>
          </a:p>
        </p:txBody>
      </p:sp>
      <p:sp>
        <p:nvSpPr>
          <p:cNvPr id="3" name="Google Shape;205;p33">
            <a:extLst>
              <a:ext uri="{FF2B5EF4-FFF2-40B4-BE49-F238E27FC236}">
                <a16:creationId xmlns:a16="http://schemas.microsoft.com/office/drawing/2014/main" id="{F68A1344-365E-FEFA-E806-B127858050E3}"/>
              </a:ext>
            </a:extLst>
          </p:cNvPr>
          <p:cNvSpPr txBox="1">
            <a:spLocks/>
          </p:cNvSpPr>
          <p:nvPr/>
        </p:nvSpPr>
        <p:spPr>
          <a:xfrm>
            <a:off x="4663677" y="3988577"/>
            <a:ext cx="3767100" cy="448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600" b="1" i="0" u="none" strike="noStrike" cap="none">
                <a:solidFill>
                  <a:schemeClr val="dk1"/>
                </a:solidFill>
                <a:latin typeface="Outfit"/>
                <a:ea typeface="Outfit"/>
                <a:cs typeface="Outfit"/>
                <a:sym typeface="Outfit"/>
              </a:defRPr>
            </a:lvl1pPr>
            <a:lvl2pPr marL="914400" marR="0" lvl="1"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marL="0" indent="0"/>
            <a:r>
              <a:rPr lang="en-GB" dirty="0"/>
              <a:t>Loop-based Execution Cycle</a:t>
            </a:r>
          </a:p>
        </p:txBody>
      </p:sp>
      <p:sp>
        <p:nvSpPr>
          <p:cNvPr id="13" name="Google Shape;140;p28">
            <a:extLst>
              <a:ext uri="{FF2B5EF4-FFF2-40B4-BE49-F238E27FC236}">
                <a16:creationId xmlns:a16="http://schemas.microsoft.com/office/drawing/2014/main" id="{CA1D4D6D-A98D-AE7E-CD05-86B7E413C5EE}"/>
              </a:ext>
            </a:extLst>
          </p:cNvPr>
          <p:cNvSpPr txBox="1">
            <a:spLocks/>
          </p:cNvSpPr>
          <p:nvPr/>
        </p:nvSpPr>
        <p:spPr>
          <a:xfrm>
            <a:off x="2177375" y="1625824"/>
            <a:ext cx="8388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1pPr>
            <a:lvl2pPr marL="914400" marR="0" lvl="1"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2pPr>
            <a:lvl3pPr marL="1371600" marR="0" lvl="2"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3pPr>
            <a:lvl4pPr marL="1828800" marR="0" lvl="3"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4pPr>
            <a:lvl5pPr marL="2286000" marR="0" lvl="4"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5pPr>
            <a:lvl6pPr marL="2743200" marR="0" lvl="5"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6pPr>
            <a:lvl7pPr marL="3200400" marR="0" lvl="6"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7pPr>
            <a:lvl8pPr marL="3657600" marR="0" lvl="7"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8pPr>
            <a:lvl9pPr marL="4114800" marR="0" lvl="8"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9pPr>
          </a:lstStyle>
          <a:p>
            <a:pPr marL="0" indent="0"/>
            <a:r>
              <a:rPr lang="en" sz="2400" b="1" dirty="0">
                <a:latin typeface="Outfit" panose="020B0604020202020204" charset="0"/>
              </a:rPr>
              <a:t>01</a:t>
            </a:r>
          </a:p>
        </p:txBody>
      </p:sp>
      <p:sp>
        <p:nvSpPr>
          <p:cNvPr id="15" name="Google Shape;140;p28">
            <a:extLst>
              <a:ext uri="{FF2B5EF4-FFF2-40B4-BE49-F238E27FC236}">
                <a16:creationId xmlns:a16="http://schemas.microsoft.com/office/drawing/2014/main" id="{4CECE39C-6EA2-B8FE-622A-485C22647BEB}"/>
              </a:ext>
            </a:extLst>
          </p:cNvPr>
          <p:cNvSpPr txBox="1">
            <a:spLocks/>
          </p:cNvSpPr>
          <p:nvPr/>
        </p:nvSpPr>
        <p:spPr>
          <a:xfrm>
            <a:off x="2184150" y="2591699"/>
            <a:ext cx="8388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1pPr>
            <a:lvl2pPr marL="914400" marR="0" lvl="1"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2pPr>
            <a:lvl3pPr marL="1371600" marR="0" lvl="2"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3pPr>
            <a:lvl4pPr marL="1828800" marR="0" lvl="3"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4pPr>
            <a:lvl5pPr marL="2286000" marR="0" lvl="4"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5pPr>
            <a:lvl6pPr marL="2743200" marR="0" lvl="5"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6pPr>
            <a:lvl7pPr marL="3200400" marR="0" lvl="6"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7pPr>
            <a:lvl8pPr marL="3657600" marR="0" lvl="7"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8pPr>
            <a:lvl9pPr marL="4114800" marR="0" lvl="8"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9pPr>
          </a:lstStyle>
          <a:p>
            <a:pPr marL="0" indent="0"/>
            <a:r>
              <a:rPr lang="en" sz="2400" b="1" dirty="0">
                <a:latin typeface="Outfit" panose="020B0604020202020204" charset="0"/>
              </a:rPr>
              <a:t>03</a:t>
            </a:r>
          </a:p>
        </p:txBody>
      </p:sp>
      <p:sp>
        <p:nvSpPr>
          <p:cNvPr id="16" name="Google Shape;140;p28">
            <a:extLst>
              <a:ext uri="{FF2B5EF4-FFF2-40B4-BE49-F238E27FC236}">
                <a16:creationId xmlns:a16="http://schemas.microsoft.com/office/drawing/2014/main" id="{6A4D2EB7-8A5A-4427-A623-93F2B964BB85}"/>
              </a:ext>
            </a:extLst>
          </p:cNvPr>
          <p:cNvSpPr txBox="1">
            <a:spLocks/>
          </p:cNvSpPr>
          <p:nvPr/>
        </p:nvSpPr>
        <p:spPr>
          <a:xfrm>
            <a:off x="2157742" y="3598751"/>
            <a:ext cx="8388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1pPr>
            <a:lvl2pPr marL="914400" marR="0" lvl="1"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2pPr>
            <a:lvl3pPr marL="1371600" marR="0" lvl="2"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3pPr>
            <a:lvl4pPr marL="1828800" marR="0" lvl="3"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4pPr>
            <a:lvl5pPr marL="2286000" marR="0" lvl="4"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5pPr>
            <a:lvl6pPr marL="2743200" marR="0" lvl="5"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6pPr>
            <a:lvl7pPr marL="3200400" marR="0" lvl="6"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7pPr>
            <a:lvl8pPr marL="3657600" marR="0" lvl="7"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8pPr>
            <a:lvl9pPr marL="4114800" marR="0" lvl="8"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9pPr>
          </a:lstStyle>
          <a:p>
            <a:pPr marL="0" indent="0"/>
            <a:r>
              <a:rPr lang="en" sz="2400" b="1" dirty="0">
                <a:latin typeface="Outfit" panose="020B0604020202020204" charset="0"/>
              </a:rPr>
              <a:t>05</a:t>
            </a:r>
          </a:p>
        </p:txBody>
      </p:sp>
      <p:sp>
        <p:nvSpPr>
          <p:cNvPr id="17" name="Google Shape;140;p28">
            <a:extLst>
              <a:ext uri="{FF2B5EF4-FFF2-40B4-BE49-F238E27FC236}">
                <a16:creationId xmlns:a16="http://schemas.microsoft.com/office/drawing/2014/main" id="{A63B018B-82A2-E15A-C35B-4C5C54D606B9}"/>
              </a:ext>
            </a:extLst>
          </p:cNvPr>
          <p:cNvSpPr txBox="1">
            <a:spLocks/>
          </p:cNvSpPr>
          <p:nvPr/>
        </p:nvSpPr>
        <p:spPr>
          <a:xfrm>
            <a:off x="4656875" y="2587111"/>
            <a:ext cx="8388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1pPr>
            <a:lvl2pPr marL="914400" marR="0" lvl="1"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2pPr>
            <a:lvl3pPr marL="1371600" marR="0" lvl="2"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3pPr>
            <a:lvl4pPr marL="1828800" marR="0" lvl="3"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4pPr>
            <a:lvl5pPr marL="2286000" marR="0" lvl="4"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5pPr>
            <a:lvl6pPr marL="2743200" marR="0" lvl="5"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6pPr>
            <a:lvl7pPr marL="3200400" marR="0" lvl="6"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7pPr>
            <a:lvl8pPr marL="3657600" marR="0" lvl="7"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8pPr>
            <a:lvl9pPr marL="4114800" marR="0" lvl="8"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9pPr>
          </a:lstStyle>
          <a:p>
            <a:pPr marL="0" indent="0"/>
            <a:r>
              <a:rPr lang="en" sz="2400" b="1" dirty="0">
                <a:latin typeface="Outfit" panose="020B0604020202020204" charset="0"/>
              </a:rPr>
              <a:t>04</a:t>
            </a:r>
          </a:p>
        </p:txBody>
      </p:sp>
      <p:sp>
        <p:nvSpPr>
          <p:cNvPr id="18" name="Google Shape;140;p28">
            <a:extLst>
              <a:ext uri="{FF2B5EF4-FFF2-40B4-BE49-F238E27FC236}">
                <a16:creationId xmlns:a16="http://schemas.microsoft.com/office/drawing/2014/main" id="{39E209C7-0984-9310-CAB7-57096E9349B8}"/>
              </a:ext>
            </a:extLst>
          </p:cNvPr>
          <p:cNvSpPr txBox="1">
            <a:spLocks/>
          </p:cNvSpPr>
          <p:nvPr/>
        </p:nvSpPr>
        <p:spPr>
          <a:xfrm>
            <a:off x="4656875" y="3595499"/>
            <a:ext cx="8388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1pPr>
            <a:lvl2pPr marL="914400" marR="0" lvl="1"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2pPr>
            <a:lvl3pPr marL="1371600" marR="0" lvl="2"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3pPr>
            <a:lvl4pPr marL="1828800" marR="0" lvl="3"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4pPr>
            <a:lvl5pPr marL="2286000" marR="0" lvl="4"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5pPr>
            <a:lvl6pPr marL="2743200" marR="0" lvl="5"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6pPr>
            <a:lvl7pPr marL="3200400" marR="0" lvl="6"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7pPr>
            <a:lvl8pPr marL="3657600" marR="0" lvl="7"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8pPr>
            <a:lvl9pPr marL="4114800" marR="0" lvl="8"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9pPr>
          </a:lstStyle>
          <a:p>
            <a:pPr marL="0" indent="0"/>
            <a:r>
              <a:rPr lang="en" sz="2400" b="1" dirty="0">
                <a:latin typeface="Outfit" panose="020B0604020202020204" charset="0"/>
              </a:rPr>
              <a:t>06</a:t>
            </a:r>
          </a:p>
        </p:txBody>
      </p:sp>
      <p:sp>
        <p:nvSpPr>
          <p:cNvPr id="19" name="Google Shape;140;p28">
            <a:extLst>
              <a:ext uri="{FF2B5EF4-FFF2-40B4-BE49-F238E27FC236}">
                <a16:creationId xmlns:a16="http://schemas.microsoft.com/office/drawing/2014/main" id="{200F195E-6171-2347-998A-8A17A88DFD1E}"/>
              </a:ext>
            </a:extLst>
          </p:cNvPr>
          <p:cNvSpPr txBox="1">
            <a:spLocks/>
          </p:cNvSpPr>
          <p:nvPr/>
        </p:nvSpPr>
        <p:spPr>
          <a:xfrm>
            <a:off x="4663677" y="1619856"/>
            <a:ext cx="8388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1pPr>
            <a:lvl2pPr marL="914400" marR="0" lvl="1"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2pPr>
            <a:lvl3pPr marL="1371600" marR="0" lvl="2"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3pPr>
            <a:lvl4pPr marL="1828800" marR="0" lvl="3"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4pPr>
            <a:lvl5pPr marL="2286000" marR="0" lvl="4"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5pPr>
            <a:lvl6pPr marL="2743200" marR="0" lvl="5"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6pPr>
            <a:lvl7pPr marL="3200400" marR="0" lvl="6"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7pPr>
            <a:lvl8pPr marL="3657600" marR="0" lvl="7"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8pPr>
            <a:lvl9pPr marL="4114800" marR="0" lvl="8" indent="-304800" algn="ctr" rtl="0">
              <a:lnSpc>
                <a:spcPct val="100000"/>
              </a:lnSpc>
              <a:spcBef>
                <a:spcPts val="0"/>
              </a:spcBef>
              <a:spcAft>
                <a:spcPts val="0"/>
              </a:spcAft>
              <a:buClr>
                <a:schemeClr val="dk1"/>
              </a:buClr>
              <a:buSzPts val="1200"/>
              <a:buFont typeface="Arimo"/>
              <a:buNone/>
              <a:defRPr sz="1200" b="0" i="0" u="none" strike="noStrike" cap="none">
                <a:solidFill>
                  <a:schemeClr val="dk1"/>
                </a:solidFill>
                <a:latin typeface="Arimo"/>
                <a:ea typeface="Arimo"/>
                <a:cs typeface="Arimo"/>
                <a:sym typeface="Arimo"/>
              </a:defRPr>
            </a:lvl9pPr>
          </a:lstStyle>
          <a:p>
            <a:pPr marL="0" indent="0"/>
            <a:r>
              <a:rPr lang="en" sz="2400" b="1" dirty="0">
                <a:latin typeface="Outfit" panose="020B0604020202020204" charset="0"/>
              </a:rPr>
              <a:t>02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230B8-46A1-D5C5-7B28-2B7B2551556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6E48327-2FD1-06FC-4EBB-91D66A32AD83}"/>
              </a:ext>
            </a:extLst>
          </p:cNvPr>
          <p:cNvSpPr/>
          <p:nvPr/>
        </p:nvSpPr>
        <p:spPr>
          <a:xfrm>
            <a:off x="262128" y="1841045"/>
            <a:ext cx="8674607" cy="286232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3" name="Title 2">
            <a:extLst>
              <a:ext uri="{FF2B5EF4-FFF2-40B4-BE49-F238E27FC236}">
                <a16:creationId xmlns:a16="http://schemas.microsoft.com/office/drawing/2014/main" id="{AA71BF36-1CE7-1C33-B743-C7E42082A61E}"/>
              </a:ext>
            </a:extLst>
          </p:cNvPr>
          <p:cNvSpPr>
            <a:spLocks noGrp="1"/>
          </p:cNvSpPr>
          <p:nvPr>
            <p:ph type="title" idx="2"/>
          </p:nvPr>
        </p:nvSpPr>
        <p:spPr>
          <a:xfrm>
            <a:off x="713225" y="591880"/>
            <a:ext cx="6931160" cy="915900"/>
          </a:xfrm>
        </p:spPr>
        <p:txBody>
          <a:bodyPr/>
          <a:lstStyle/>
          <a:p>
            <a:r>
              <a:rPr lang="en-GB" sz="2600" dirty="0"/>
              <a:t>User Experience and Accessibility</a:t>
            </a:r>
            <a:endParaRPr lang="en-IN" sz="2600" dirty="0"/>
          </a:p>
        </p:txBody>
      </p:sp>
      <p:sp>
        <p:nvSpPr>
          <p:cNvPr id="7" name="Rectangle 3">
            <a:extLst>
              <a:ext uri="{FF2B5EF4-FFF2-40B4-BE49-F238E27FC236}">
                <a16:creationId xmlns:a16="http://schemas.microsoft.com/office/drawing/2014/main" id="{FA6B10A5-6F71-9FE2-761B-CA18C64C1E9C}"/>
              </a:ext>
            </a:extLst>
          </p:cNvPr>
          <p:cNvSpPr>
            <a:spLocks noGrp="1" noChangeArrowheads="1"/>
          </p:cNvSpPr>
          <p:nvPr>
            <p:ph type="title"/>
          </p:nvPr>
        </p:nvSpPr>
        <p:spPr bwMode="auto">
          <a:xfrm>
            <a:off x="713225" y="2148821"/>
            <a:ext cx="807720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rtl="0" fontAlgn="base">
              <a:lnSpc>
                <a:spcPct val="200000"/>
              </a:lnSpc>
            </a:pPr>
            <a:r>
              <a:rPr lang="en-GB" sz="1400" b="1" i="0" u="none" strike="noStrike" dirty="0" err="1">
                <a:solidFill>
                  <a:srgbClr val="000000"/>
                </a:solidFill>
                <a:effectLst/>
                <a:latin typeface="Arimo" panose="020B0604020202020204" charset="0"/>
                <a:ea typeface="Arimo" panose="020B0604020202020204" charset="0"/>
                <a:cs typeface="Arimo" panose="020B0604020202020204" charset="0"/>
              </a:rPr>
              <a:t>i</a:t>
            </a:r>
            <a:r>
              <a:rPr lang="en-GB" sz="1400" b="1" i="0" u="none" strike="noStrike" dirty="0">
                <a:solidFill>
                  <a:srgbClr val="000000"/>
                </a:solidFill>
                <a:effectLst/>
                <a:latin typeface="Arimo" panose="020B0604020202020204" charset="0"/>
                <a:ea typeface="Arimo" panose="020B0604020202020204" charset="0"/>
                <a:cs typeface="Arimo" panose="020B0604020202020204" charset="0"/>
              </a:rPr>
              <a:t>) User-</a:t>
            </a:r>
            <a:r>
              <a:rPr lang="en-GB" sz="1400" b="1" i="0" u="none" strike="noStrike" dirty="0" err="1">
                <a:solidFill>
                  <a:srgbClr val="000000"/>
                </a:solidFill>
                <a:effectLst/>
                <a:latin typeface="Arimo" panose="020B0604020202020204" charset="0"/>
                <a:ea typeface="Arimo" panose="020B0604020202020204" charset="0"/>
                <a:cs typeface="Arimo" panose="020B0604020202020204" charset="0"/>
              </a:rPr>
              <a:t>Centered</a:t>
            </a:r>
            <a:r>
              <a:rPr lang="en-GB" sz="1400" b="1" i="0" u="none" strike="noStrike" dirty="0">
                <a:solidFill>
                  <a:srgbClr val="000000"/>
                </a:solidFill>
                <a:effectLst/>
                <a:latin typeface="Arimo" panose="020B0604020202020204" charset="0"/>
                <a:ea typeface="Arimo" panose="020B0604020202020204" charset="0"/>
                <a:cs typeface="Arimo" panose="020B0604020202020204" charset="0"/>
              </a:rPr>
              <a:t> Design </a:t>
            </a:r>
            <a:br>
              <a:rPr lang="en-GB" sz="1400" b="1" i="0" u="none" strike="noStrike" dirty="0">
                <a:solidFill>
                  <a:srgbClr val="000000"/>
                </a:solidFill>
                <a:effectLst/>
                <a:latin typeface="Arimo" panose="020B0604020202020204" charset="0"/>
                <a:ea typeface="Arimo" panose="020B0604020202020204" charset="0"/>
                <a:cs typeface="Arimo" panose="020B0604020202020204" charset="0"/>
              </a:rPr>
            </a:br>
            <a:r>
              <a:rPr lang="en-GB" sz="1400" dirty="0">
                <a:latin typeface="Arimo" panose="020B0604020202020204" charset="0"/>
                <a:ea typeface="Arimo" panose="020B0604020202020204" charset="0"/>
                <a:cs typeface="Arimo" panose="020B0604020202020204" charset="0"/>
              </a:rPr>
              <a:t>ii) </a:t>
            </a:r>
            <a:r>
              <a:rPr lang="en-GB" sz="1400" i="0" u="none" strike="noStrike" dirty="0">
                <a:solidFill>
                  <a:srgbClr val="000000"/>
                </a:solidFill>
                <a:effectLst/>
                <a:latin typeface="Arimo" panose="020B0604020202020204" charset="0"/>
                <a:ea typeface="Arimo" panose="020B0604020202020204" charset="0"/>
                <a:cs typeface="Arimo" panose="020B0604020202020204" charset="0"/>
              </a:rPr>
              <a:t>Ease of Navigation</a:t>
            </a:r>
            <a:br>
              <a:rPr lang="en-GB" sz="1400" b="0" dirty="0">
                <a:effectLst/>
                <a:latin typeface="Arimo" panose="020B0604020202020204" charset="0"/>
                <a:ea typeface="Arimo" panose="020B0604020202020204" charset="0"/>
                <a:cs typeface="Arimo" panose="020B0604020202020204" charset="0"/>
              </a:rPr>
            </a:br>
            <a:r>
              <a:rPr lang="en-GB" sz="1400" dirty="0">
                <a:effectLst/>
                <a:latin typeface="Arimo" panose="020B0604020202020204" charset="0"/>
                <a:ea typeface="Arimo" panose="020B0604020202020204" charset="0"/>
                <a:cs typeface="Arimo" panose="020B0604020202020204" charset="0"/>
              </a:rPr>
              <a:t>iii) </a:t>
            </a:r>
            <a:r>
              <a:rPr lang="en-GB" sz="1400" i="0" u="none" strike="noStrike" dirty="0">
                <a:solidFill>
                  <a:srgbClr val="000000"/>
                </a:solidFill>
                <a:effectLst/>
                <a:latin typeface="Arimo" panose="020B0604020202020204" charset="0"/>
                <a:ea typeface="Arimo" panose="020B0604020202020204" charset="0"/>
                <a:cs typeface="Arimo" panose="020B0604020202020204" charset="0"/>
              </a:rPr>
              <a:t>Reliability and Safety Measures</a:t>
            </a:r>
            <a:br>
              <a:rPr lang="en-GB" sz="1400" b="0" i="0" u="none" strike="noStrike" dirty="0">
                <a:solidFill>
                  <a:srgbClr val="000000"/>
                </a:solidFill>
                <a:effectLst/>
                <a:latin typeface="Arimo" panose="020B0604020202020204" charset="0"/>
                <a:ea typeface="Arimo" panose="020B0604020202020204" charset="0"/>
                <a:cs typeface="Arimo" panose="020B0604020202020204" charset="0"/>
              </a:rPr>
            </a:br>
            <a:r>
              <a:rPr lang="en-GB" sz="1400" i="0" u="none" strike="noStrike" dirty="0">
                <a:solidFill>
                  <a:srgbClr val="000000"/>
                </a:solidFill>
                <a:effectLst/>
                <a:latin typeface="Arimo" panose="020B0604020202020204" charset="0"/>
                <a:ea typeface="Arimo" panose="020B0604020202020204" charset="0"/>
                <a:cs typeface="Arimo" panose="020B0604020202020204" charset="0"/>
              </a:rPr>
              <a:t>iv) Accessible Design </a:t>
            </a:r>
            <a:br>
              <a:rPr lang="en-GB" sz="1400" i="0" u="none" strike="noStrike" dirty="0">
                <a:solidFill>
                  <a:srgbClr val="000000"/>
                </a:solidFill>
                <a:effectLst/>
                <a:latin typeface="Arimo" panose="020B0604020202020204" charset="0"/>
                <a:ea typeface="Arimo" panose="020B0604020202020204" charset="0"/>
                <a:cs typeface="Arimo" panose="020B0604020202020204" charset="0"/>
              </a:rPr>
            </a:br>
            <a:r>
              <a:rPr lang="en-GB" sz="1400" i="0" u="none" strike="noStrike" dirty="0">
                <a:solidFill>
                  <a:srgbClr val="000000"/>
                </a:solidFill>
                <a:effectLst/>
                <a:latin typeface="Arimo" panose="020B0604020202020204" charset="0"/>
                <a:ea typeface="Arimo" panose="020B0604020202020204" charset="0"/>
                <a:cs typeface="Arimo" panose="020B0604020202020204" charset="0"/>
              </a:rPr>
              <a:t>v) Enhancements for Inclusivity</a:t>
            </a:r>
            <a:endParaRPr kumimoji="0" lang="en-US" altLang="en-US" sz="1400" b="0" i="0" u="none" strike="noStrike" cap="none" normalizeH="0" baseline="0" dirty="0">
              <a:ln>
                <a:noFill/>
              </a:ln>
              <a:solidFill>
                <a:schemeClr val="tx1"/>
              </a:solidFill>
              <a:effectLst/>
              <a:latin typeface="Arimo" panose="020B0604020202020204" charset="0"/>
              <a:ea typeface="Arimo" panose="020B0604020202020204" charset="0"/>
              <a:cs typeface="Arimo" panose="020B0604020202020204" charset="0"/>
            </a:endParaRPr>
          </a:p>
        </p:txBody>
      </p:sp>
    </p:spTree>
    <p:extLst>
      <p:ext uri="{BB962C8B-B14F-4D97-AF65-F5344CB8AC3E}">
        <p14:creationId xmlns:p14="http://schemas.microsoft.com/office/powerpoint/2010/main" val="3394031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310C2B80-E4B3-ADD2-1C69-C9DB92CE2273}"/>
            </a:ext>
          </a:extLst>
        </p:cNvPr>
        <p:cNvGrpSpPr/>
        <p:nvPr/>
      </p:nvGrpSpPr>
      <p:grpSpPr>
        <a:xfrm>
          <a:off x="0" y="0"/>
          <a:ext cx="0" cy="0"/>
          <a:chOff x="0" y="0"/>
          <a:chExt cx="0" cy="0"/>
        </a:xfrm>
      </p:grpSpPr>
      <p:sp>
        <p:nvSpPr>
          <p:cNvPr id="221" name="Google Shape;221;p35">
            <a:extLst>
              <a:ext uri="{FF2B5EF4-FFF2-40B4-BE49-F238E27FC236}">
                <a16:creationId xmlns:a16="http://schemas.microsoft.com/office/drawing/2014/main" id="{D2A185A8-255F-0753-22AD-E2E447055DA7}"/>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Testing and Calibiration Procedures</a:t>
            </a:r>
            <a:endParaRPr dirty="0"/>
          </a:p>
        </p:txBody>
      </p:sp>
      <p:sp>
        <p:nvSpPr>
          <p:cNvPr id="222" name="Google Shape;222;p35">
            <a:extLst>
              <a:ext uri="{FF2B5EF4-FFF2-40B4-BE49-F238E27FC236}">
                <a16:creationId xmlns:a16="http://schemas.microsoft.com/office/drawing/2014/main" id="{9F2C44E1-F852-CFAB-2A27-CC9361955AF2}"/>
              </a:ext>
            </a:extLst>
          </p:cNvPr>
          <p:cNvSpPr txBox="1"/>
          <p:nvPr/>
        </p:nvSpPr>
        <p:spPr>
          <a:xfrm>
            <a:off x="281649" y="2935025"/>
            <a:ext cx="3315552" cy="685200"/>
          </a:xfrm>
          <a:prstGeom prst="rect">
            <a:avLst/>
          </a:prstGeom>
          <a:noFill/>
          <a:ln>
            <a:noFill/>
          </a:ln>
        </p:spPr>
        <p:txBody>
          <a:bodyPr spcFirstLastPara="1" wrap="square" lIns="91425" tIns="91425" rIns="91425" bIns="91425" anchor="t" anchorCtr="0">
            <a:noAutofit/>
          </a:bodyPr>
          <a:lstStyle/>
          <a:p>
            <a:pPr marL="742950" lvl="1" indent="-285750">
              <a:buFont typeface="+mj-lt"/>
              <a:buAutoNum type="arabicPeriod"/>
            </a:pPr>
            <a:r>
              <a:rPr lang="en-GB" sz="1200" dirty="0">
                <a:latin typeface="Arimo" panose="020B0604020202020204" charset="0"/>
                <a:ea typeface="Arimo" panose="020B0604020202020204" charset="0"/>
                <a:cs typeface="Arimo" panose="020B0604020202020204" charset="0"/>
              </a:rPr>
              <a:t>Individual testing of sensors, microcontroller, buzzer, and vibration motor to verify functionality.</a:t>
            </a:r>
          </a:p>
          <a:p>
            <a:pPr marL="742950" lvl="1" indent="-285750">
              <a:buFont typeface="+mj-lt"/>
              <a:buAutoNum type="arabicPeriod"/>
            </a:pPr>
            <a:r>
              <a:rPr lang="en-GB" sz="1200" dirty="0">
                <a:latin typeface="Arimo" panose="020B0604020202020204" charset="0"/>
                <a:ea typeface="Arimo" panose="020B0604020202020204" charset="0"/>
                <a:cs typeface="Arimo" panose="020B0604020202020204" charset="0"/>
              </a:rPr>
              <a:t>Ensuring each component operates correctly before integration into the system.</a:t>
            </a:r>
          </a:p>
        </p:txBody>
      </p:sp>
      <p:sp>
        <p:nvSpPr>
          <p:cNvPr id="223" name="Google Shape;223;p35">
            <a:extLst>
              <a:ext uri="{FF2B5EF4-FFF2-40B4-BE49-F238E27FC236}">
                <a16:creationId xmlns:a16="http://schemas.microsoft.com/office/drawing/2014/main" id="{DFCA7089-E6C5-8348-0617-8E3C7B17A00E}"/>
              </a:ext>
            </a:extLst>
          </p:cNvPr>
          <p:cNvSpPr txBox="1"/>
          <p:nvPr/>
        </p:nvSpPr>
        <p:spPr>
          <a:xfrm>
            <a:off x="713175" y="2376413"/>
            <a:ext cx="2452500" cy="505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IN" sz="1600" b="1" dirty="0">
                <a:latin typeface="Outfit" panose="020B0604020202020204" charset="0"/>
              </a:rPr>
              <a:t>Component-Level Testing</a:t>
            </a:r>
            <a:endParaRPr sz="1200" b="1" dirty="0">
              <a:solidFill>
                <a:schemeClr val="dk1"/>
              </a:solidFill>
              <a:latin typeface="Outfit" panose="020B0604020202020204" charset="0"/>
              <a:ea typeface="Outfit"/>
              <a:cs typeface="Outfit"/>
              <a:sym typeface="Outfit"/>
            </a:endParaRPr>
          </a:p>
        </p:txBody>
      </p:sp>
      <p:sp>
        <p:nvSpPr>
          <p:cNvPr id="224" name="Google Shape;224;p35">
            <a:extLst>
              <a:ext uri="{FF2B5EF4-FFF2-40B4-BE49-F238E27FC236}">
                <a16:creationId xmlns:a16="http://schemas.microsoft.com/office/drawing/2014/main" id="{D2A4B2CF-E795-CBDD-5E1B-4D9CE2D58B64}"/>
              </a:ext>
            </a:extLst>
          </p:cNvPr>
          <p:cNvSpPr txBox="1"/>
          <p:nvPr/>
        </p:nvSpPr>
        <p:spPr>
          <a:xfrm>
            <a:off x="3292923" y="2930908"/>
            <a:ext cx="2778590" cy="685200"/>
          </a:xfrm>
          <a:prstGeom prst="rect">
            <a:avLst/>
          </a:prstGeom>
          <a:noFill/>
          <a:ln>
            <a:noFill/>
          </a:ln>
        </p:spPr>
        <p:txBody>
          <a:bodyPr spcFirstLastPara="1" wrap="square" lIns="91425" tIns="91425" rIns="91425" bIns="91425" anchor="t" anchorCtr="0">
            <a:noAutofit/>
          </a:bodyPr>
          <a:lstStyle/>
          <a:p>
            <a:pPr marL="228600" indent="-228600">
              <a:buFont typeface="+mj-lt"/>
              <a:buAutoNum type="arabicPeriod"/>
            </a:pPr>
            <a:r>
              <a:rPr lang="en-GB" sz="1200" dirty="0">
                <a:latin typeface="Arimo" panose="020B0604020202020204" charset="0"/>
                <a:ea typeface="Arimo" panose="020B0604020202020204" charset="0"/>
                <a:cs typeface="Arimo" panose="020B0604020202020204" charset="0"/>
              </a:rPr>
              <a:t>System Integration Testing to confirm seamless communication between hardware components.</a:t>
            </a:r>
          </a:p>
          <a:p>
            <a:pPr marL="228600" indent="-228600">
              <a:buFont typeface="+mj-lt"/>
              <a:buAutoNum type="arabicPeriod"/>
            </a:pPr>
            <a:r>
              <a:rPr lang="en-GB" sz="1200" dirty="0">
                <a:latin typeface="Arimo" panose="020B0604020202020204" charset="0"/>
                <a:ea typeface="Arimo" panose="020B0604020202020204" charset="0"/>
                <a:cs typeface="Arimo" panose="020B0604020202020204" charset="0"/>
              </a:rPr>
              <a:t>Environment Testing to assess performance in varied conditions like indoors, outdoors, and crowded areas.</a:t>
            </a:r>
          </a:p>
          <a:p>
            <a:pPr marL="228600" indent="-228600">
              <a:buFont typeface="+mj-lt"/>
              <a:buAutoNum type="arabicPeriod"/>
            </a:pPr>
            <a:r>
              <a:rPr lang="en-GB" sz="1200" dirty="0">
                <a:latin typeface="Arimo" panose="020B0604020202020204" charset="0"/>
                <a:ea typeface="Arimo" panose="020B0604020202020204" charset="0"/>
                <a:cs typeface="Arimo" panose="020B0604020202020204" charset="0"/>
              </a:rPr>
              <a:t>Calibration of sensors to optimize obstacle detection accuracy and minimize false positives.</a:t>
            </a:r>
          </a:p>
        </p:txBody>
      </p:sp>
      <p:sp>
        <p:nvSpPr>
          <p:cNvPr id="225" name="Google Shape;225;p35">
            <a:extLst>
              <a:ext uri="{FF2B5EF4-FFF2-40B4-BE49-F238E27FC236}">
                <a16:creationId xmlns:a16="http://schemas.microsoft.com/office/drawing/2014/main" id="{2AB1A5BF-382B-B04A-503B-82AAA78322D9}"/>
              </a:ext>
            </a:extLst>
          </p:cNvPr>
          <p:cNvSpPr txBox="1"/>
          <p:nvPr/>
        </p:nvSpPr>
        <p:spPr>
          <a:xfrm>
            <a:off x="3342251" y="2374525"/>
            <a:ext cx="2629174" cy="505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IN" sz="1600" b="1" dirty="0">
                <a:latin typeface="Outfit" panose="020B0604020202020204" charset="0"/>
              </a:rPr>
              <a:t>System and Environmental Testing</a:t>
            </a:r>
            <a:endParaRPr sz="1200" b="1" dirty="0">
              <a:solidFill>
                <a:schemeClr val="dk1"/>
              </a:solidFill>
              <a:latin typeface="Outfit" panose="020B0604020202020204" charset="0"/>
              <a:ea typeface="Outfit"/>
              <a:cs typeface="Outfit"/>
              <a:sym typeface="Outfit"/>
            </a:endParaRPr>
          </a:p>
        </p:txBody>
      </p:sp>
      <p:sp>
        <p:nvSpPr>
          <p:cNvPr id="226" name="Google Shape;226;p35">
            <a:extLst>
              <a:ext uri="{FF2B5EF4-FFF2-40B4-BE49-F238E27FC236}">
                <a16:creationId xmlns:a16="http://schemas.microsoft.com/office/drawing/2014/main" id="{A899D336-196A-E8B1-A8A9-B5B2818B3B5B}"/>
              </a:ext>
            </a:extLst>
          </p:cNvPr>
          <p:cNvSpPr txBox="1"/>
          <p:nvPr/>
        </p:nvSpPr>
        <p:spPr>
          <a:xfrm>
            <a:off x="5971424" y="2926791"/>
            <a:ext cx="2587359" cy="685200"/>
          </a:xfrm>
          <a:prstGeom prst="rect">
            <a:avLst/>
          </a:prstGeom>
          <a:noFill/>
          <a:ln>
            <a:noFill/>
          </a:ln>
        </p:spPr>
        <p:txBody>
          <a:bodyPr spcFirstLastPara="1" wrap="square" lIns="91425" tIns="91425" rIns="91425" bIns="91425" anchor="t" anchorCtr="0">
            <a:noAutofit/>
          </a:bodyPr>
          <a:lstStyle/>
          <a:p>
            <a:pPr marL="228600" indent="-228600">
              <a:buFont typeface="+mj-lt"/>
              <a:buAutoNum type="arabicPeriod"/>
            </a:pPr>
            <a:r>
              <a:rPr lang="en-GB" sz="1200" dirty="0">
                <a:latin typeface="Arimo" panose="020B0604020202020204" charset="0"/>
                <a:ea typeface="Arimo" panose="020B0604020202020204" charset="0"/>
                <a:cs typeface="Arimo" panose="020B0604020202020204" charset="0"/>
              </a:rPr>
              <a:t>Real-world testing with visually impaired users to validate usability and effectiveness.</a:t>
            </a:r>
          </a:p>
          <a:p>
            <a:pPr marL="228600" indent="-228600">
              <a:buFont typeface="+mj-lt"/>
              <a:buAutoNum type="arabicPeriod"/>
            </a:pPr>
            <a:r>
              <a:rPr lang="en-GB" sz="1200" dirty="0">
                <a:latin typeface="Arimo" panose="020B0604020202020204" charset="0"/>
                <a:ea typeface="Arimo" panose="020B0604020202020204" charset="0"/>
                <a:cs typeface="Arimo" panose="020B0604020202020204" charset="0"/>
              </a:rPr>
              <a:t>Gathering feedback for refinements to improve comfort, accuracy, and overall user experience.</a:t>
            </a:r>
          </a:p>
        </p:txBody>
      </p:sp>
      <p:sp>
        <p:nvSpPr>
          <p:cNvPr id="227" name="Google Shape;227;p35">
            <a:extLst>
              <a:ext uri="{FF2B5EF4-FFF2-40B4-BE49-F238E27FC236}">
                <a16:creationId xmlns:a16="http://schemas.microsoft.com/office/drawing/2014/main" id="{CEE05D94-74CE-9BF5-E4A0-EF427782FDB4}"/>
              </a:ext>
            </a:extLst>
          </p:cNvPr>
          <p:cNvSpPr txBox="1"/>
          <p:nvPr/>
        </p:nvSpPr>
        <p:spPr>
          <a:xfrm>
            <a:off x="5971425" y="2372296"/>
            <a:ext cx="2459400" cy="505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IN" sz="1600" b="1" dirty="0">
                <a:latin typeface="Outfit" panose="020B0604020202020204" charset="0"/>
              </a:rPr>
              <a:t>User-Centric Field Testing</a:t>
            </a:r>
            <a:endParaRPr sz="1200" b="1" dirty="0">
              <a:solidFill>
                <a:schemeClr val="dk1"/>
              </a:solidFill>
              <a:latin typeface="Outfit" panose="020B0604020202020204" charset="0"/>
              <a:ea typeface="Outfit"/>
              <a:cs typeface="Outfit"/>
              <a:sym typeface="Outfit"/>
            </a:endParaRPr>
          </a:p>
        </p:txBody>
      </p:sp>
      <p:sp>
        <p:nvSpPr>
          <p:cNvPr id="228" name="Google Shape;228;p35">
            <a:extLst>
              <a:ext uri="{FF2B5EF4-FFF2-40B4-BE49-F238E27FC236}">
                <a16:creationId xmlns:a16="http://schemas.microsoft.com/office/drawing/2014/main" id="{DF573B2A-38C6-7DFA-758E-077A0E4BB967}"/>
              </a:ext>
            </a:extLst>
          </p:cNvPr>
          <p:cNvSpPr txBox="1"/>
          <p:nvPr/>
        </p:nvSpPr>
        <p:spPr>
          <a:xfrm>
            <a:off x="3342275" y="1736763"/>
            <a:ext cx="987600" cy="406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dirty="0">
                <a:solidFill>
                  <a:schemeClr val="dk1"/>
                </a:solidFill>
                <a:latin typeface="Outfit"/>
                <a:ea typeface="Outfit"/>
                <a:cs typeface="Outfit"/>
                <a:sym typeface="Outfit"/>
              </a:rPr>
              <a:t>40%</a:t>
            </a:r>
            <a:endParaRPr sz="2400" b="1" dirty="0">
              <a:solidFill>
                <a:schemeClr val="dk1"/>
              </a:solidFill>
              <a:latin typeface="Outfit"/>
              <a:ea typeface="Outfit"/>
              <a:cs typeface="Outfit"/>
              <a:sym typeface="Outfit"/>
            </a:endParaRPr>
          </a:p>
        </p:txBody>
      </p:sp>
      <p:sp>
        <p:nvSpPr>
          <p:cNvPr id="229" name="Google Shape;229;p35">
            <a:extLst>
              <a:ext uri="{FF2B5EF4-FFF2-40B4-BE49-F238E27FC236}">
                <a16:creationId xmlns:a16="http://schemas.microsoft.com/office/drawing/2014/main" id="{F16A6C7B-8549-BCEB-220E-C08D90AD90A4}"/>
              </a:ext>
            </a:extLst>
          </p:cNvPr>
          <p:cNvSpPr txBox="1"/>
          <p:nvPr/>
        </p:nvSpPr>
        <p:spPr>
          <a:xfrm>
            <a:off x="5971425" y="1736763"/>
            <a:ext cx="987600" cy="406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dirty="0">
                <a:solidFill>
                  <a:schemeClr val="dk1"/>
                </a:solidFill>
                <a:latin typeface="Outfit"/>
                <a:ea typeface="Outfit"/>
                <a:cs typeface="Outfit"/>
                <a:sym typeface="Outfit"/>
              </a:rPr>
              <a:t>30%</a:t>
            </a:r>
            <a:endParaRPr sz="2400" b="1" dirty="0">
              <a:solidFill>
                <a:schemeClr val="dk1"/>
              </a:solidFill>
              <a:latin typeface="Outfit"/>
              <a:ea typeface="Outfit"/>
              <a:cs typeface="Outfit"/>
              <a:sym typeface="Outfit"/>
            </a:endParaRPr>
          </a:p>
        </p:txBody>
      </p:sp>
      <p:sp>
        <p:nvSpPr>
          <p:cNvPr id="230" name="Google Shape;230;p35">
            <a:extLst>
              <a:ext uri="{FF2B5EF4-FFF2-40B4-BE49-F238E27FC236}">
                <a16:creationId xmlns:a16="http://schemas.microsoft.com/office/drawing/2014/main" id="{4CAB9764-544E-9C65-B950-A785EB3F2C64}"/>
              </a:ext>
            </a:extLst>
          </p:cNvPr>
          <p:cNvSpPr txBox="1"/>
          <p:nvPr/>
        </p:nvSpPr>
        <p:spPr>
          <a:xfrm>
            <a:off x="720000" y="1736763"/>
            <a:ext cx="987600" cy="406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dirty="0">
                <a:solidFill>
                  <a:schemeClr val="dk1"/>
                </a:solidFill>
                <a:latin typeface="Outfit"/>
                <a:ea typeface="Outfit"/>
                <a:cs typeface="Outfit"/>
                <a:sym typeface="Outfit"/>
              </a:rPr>
              <a:t>30%</a:t>
            </a:r>
            <a:endParaRPr sz="2400" b="1" dirty="0">
              <a:solidFill>
                <a:schemeClr val="dk1"/>
              </a:solidFill>
              <a:latin typeface="Outfit"/>
              <a:ea typeface="Outfit"/>
              <a:cs typeface="Outfit"/>
              <a:sym typeface="Outfit"/>
            </a:endParaRPr>
          </a:p>
        </p:txBody>
      </p:sp>
      <p:cxnSp>
        <p:nvCxnSpPr>
          <p:cNvPr id="237" name="Google Shape;237;p35">
            <a:extLst>
              <a:ext uri="{FF2B5EF4-FFF2-40B4-BE49-F238E27FC236}">
                <a16:creationId xmlns:a16="http://schemas.microsoft.com/office/drawing/2014/main" id="{97A92648-EB64-5E59-6106-543DCC1D8E48}"/>
              </a:ext>
            </a:extLst>
          </p:cNvPr>
          <p:cNvCxnSpPr/>
          <p:nvPr/>
        </p:nvCxnSpPr>
        <p:spPr>
          <a:xfrm>
            <a:off x="713250" y="1279575"/>
            <a:ext cx="7717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14305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Results and Discussion</a:t>
            </a:r>
            <a:endParaRPr dirty="0"/>
          </a:p>
        </p:txBody>
      </p:sp>
      <p:cxnSp>
        <p:nvCxnSpPr>
          <p:cNvPr id="265" name="Google Shape;265;p37"/>
          <p:cNvCxnSpPr/>
          <p:nvPr/>
        </p:nvCxnSpPr>
        <p:spPr>
          <a:xfrm>
            <a:off x="713250" y="1279575"/>
            <a:ext cx="7717500" cy="0"/>
          </a:xfrm>
          <a:prstGeom prst="straightConnector1">
            <a:avLst/>
          </a:prstGeom>
          <a:noFill/>
          <a:ln w="19050" cap="flat" cmpd="sng">
            <a:solidFill>
              <a:schemeClr val="dk1"/>
            </a:solidFill>
            <a:prstDash val="solid"/>
            <a:round/>
            <a:headEnd type="none" w="med" len="med"/>
            <a:tailEnd type="none" w="med" len="med"/>
          </a:ln>
        </p:spPr>
      </p:cxnSp>
      <p:sp>
        <p:nvSpPr>
          <p:cNvPr id="266" name="Google Shape;266;p37"/>
          <p:cNvSpPr txBox="1"/>
          <p:nvPr/>
        </p:nvSpPr>
        <p:spPr>
          <a:xfrm>
            <a:off x="713175" y="3080095"/>
            <a:ext cx="2629100" cy="110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0" i="0" u="none" strike="noStrike" dirty="0">
                <a:solidFill>
                  <a:srgbClr val="000000"/>
                </a:solidFill>
                <a:effectLst/>
                <a:latin typeface="Arimo" panose="020B0604020202020204" charset="0"/>
                <a:ea typeface="Arimo" panose="020B0604020202020204" charset="0"/>
                <a:cs typeface="Arimo" panose="020B0604020202020204" charset="0"/>
              </a:rPr>
              <a:t>The device achieved over 90% accuracy in obstacle detection across varied environments, with a response time of 0.5 to 1 second. Users noted reliable performance in indoor, outdoor, and low-light conditions. However, transparent and reflective surfaces posed occasional challenges</a:t>
            </a:r>
            <a:endParaRPr sz="1000" dirty="0">
              <a:solidFill>
                <a:schemeClr val="dk1"/>
              </a:solidFill>
              <a:latin typeface="Arimo" panose="020B0604020202020204" charset="0"/>
              <a:ea typeface="Arimo" panose="020B0604020202020204" charset="0"/>
              <a:cs typeface="Arimo" panose="020B0604020202020204" charset="0"/>
              <a:sym typeface="Open Sans"/>
            </a:endParaRPr>
          </a:p>
        </p:txBody>
      </p:sp>
      <p:sp>
        <p:nvSpPr>
          <p:cNvPr id="267" name="Google Shape;267;p37"/>
          <p:cNvSpPr txBox="1"/>
          <p:nvPr/>
        </p:nvSpPr>
        <p:spPr>
          <a:xfrm>
            <a:off x="720000" y="2343967"/>
            <a:ext cx="2452500" cy="505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dirty="0">
                <a:solidFill>
                  <a:schemeClr val="dk1"/>
                </a:solidFill>
                <a:latin typeface="Outfit"/>
                <a:ea typeface="Outfit"/>
                <a:cs typeface="Outfit"/>
                <a:sym typeface="Outfit"/>
              </a:rPr>
              <a:t>Key Outcomes</a:t>
            </a:r>
            <a:endParaRPr sz="1600" b="1" dirty="0">
              <a:solidFill>
                <a:schemeClr val="dk1"/>
              </a:solidFill>
              <a:latin typeface="Outfit"/>
              <a:ea typeface="Outfit"/>
              <a:cs typeface="Outfit"/>
              <a:sym typeface="Outfit"/>
            </a:endParaRPr>
          </a:p>
        </p:txBody>
      </p:sp>
      <p:sp>
        <p:nvSpPr>
          <p:cNvPr id="268" name="Google Shape;268;p37"/>
          <p:cNvSpPr txBox="1"/>
          <p:nvPr/>
        </p:nvSpPr>
        <p:spPr>
          <a:xfrm>
            <a:off x="3342275" y="3085715"/>
            <a:ext cx="2459400" cy="110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0" i="0" u="none" strike="noStrike" dirty="0">
                <a:solidFill>
                  <a:srgbClr val="000000"/>
                </a:solidFill>
                <a:effectLst/>
                <a:latin typeface="Arimo" panose="020B0604020202020204" charset="0"/>
                <a:ea typeface="Arimo" panose="020B0604020202020204" charset="0"/>
                <a:cs typeface="Arimo" panose="020B0604020202020204" charset="0"/>
              </a:rPr>
              <a:t>Affordable, lightweight, and user-friendly design ensures high usability and portability. The device's extended battery life supports 8–10 hours of operation, making it suitable for daily use.</a:t>
            </a:r>
            <a:endParaRPr sz="1000" dirty="0">
              <a:solidFill>
                <a:schemeClr val="dk1"/>
              </a:solidFill>
              <a:latin typeface="Arimo" panose="020B0604020202020204" charset="0"/>
              <a:ea typeface="Arimo" panose="020B0604020202020204" charset="0"/>
              <a:cs typeface="Arimo" panose="020B0604020202020204" charset="0"/>
              <a:sym typeface="Open Sans"/>
            </a:endParaRPr>
          </a:p>
        </p:txBody>
      </p:sp>
      <p:sp>
        <p:nvSpPr>
          <p:cNvPr id="269" name="Google Shape;269;p37"/>
          <p:cNvSpPr txBox="1"/>
          <p:nvPr/>
        </p:nvSpPr>
        <p:spPr>
          <a:xfrm>
            <a:off x="3342275" y="2343967"/>
            <a:ext cx="2459400" cy="505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dirty="0">
                <a:solidFill>
                  <a:schemeClr val="dk1"/>
                </a:solidFill>
                <a:latin typeface="Outfit"/>
                <a:ea typeface="Outfit"/>
                <a:cs typeface="Outfit"/>
                <a:sym typeface="Outfit"/>
              </a:rPr>
              <a:t>System Strengths</a:t>
            </a:r>
            <a:endParaRPr sz="1600" b="1" dirty="0">
              <a:solidFill>
                <a:schemeClr val="dk1"/>
              </a:solidFill>
              <a:latin typeface="Outfit"/>
              <a:ea typeface="Outfit"/>
              <a:cs typeface="Outfit"/>
              <a:sym typeface="Outfit"/>
            </a:endParaRPr>
          </a:p>
        </p:txBody>
      </p:sp>
      <p:sp>
        <p:nvSpPr>
          <p:cNvPr id="270" name="Google Shape;270;p37"/>
          <p:cNvSpPr txBox="1"/>
          <p:nvPr/>
        </p:nvSpPr>
        <p:spPr>
          <a:xfrm>
            <a:off x="5971375" y="3088826"/>
            <a:ext cx="2459400" cy="110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0" i="0" u="none" strike="noStrike" dirty="0">
                <a:solidFill>
                  <a:srgbClr val="000000"/>
                </a:solidFill>
                <a:effectLst/>
                <a:latin typeface="Arimo" panose="020B0604020202020204" charset="0"/>
                <a:ea typeface="Arimo" panose="020B0604020202020204" charset="0"/>
                <a:cs typeface="Arimo" panose="020B0604020202020204" charset="0"/>
              </a:rPr>
              <a:t>Enhancing detection for reflective surfaces, extending obstacle range, and improving energy efficiency were noted as potential areas for refinement</a:t>
            </a:r>
            <a:endParaRPr sz="1000" dirty="0">
              <a:solidFill>
                <a:schemeClr val="dk1"/>
              </a:solidFill>
              <a:latin typeface="Arimo" panose="020B0604020202020204" charset="0"/>
              <a:ea typeface="Arimo" panose="020B0604020202020204" charset="0"/>
              <a:cs typeface="Arimo" panose="020B0604020202020204" charset="0"/>
              <a:sym typeface="Open Sans"/>
            </a:endParaRPr>
          </a:p>
        </p:txBody>
      </p:sp>
      <p:sp>
        <p:nvSpPr>
          <p:cNvPr id="271" name="Google Shape;271;p37"/>
          <p:cNvSpPr txBox="1"/>
          <p:nvPr/>
        </p:nvSpPr>
        <p:spPr>
          <a:xfrm>
            <a:off x="5971425" y="2574595"/>
            <a:ext cx="2721471" cy="505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dirty="0">
                <a:solidFill>
                  <a:schemeClr val="dk1"/>
                </a:solidFill>
                <a:latin typeface="Outfit"/>
                <a:ea typeface="Outfit"/>
                <a:cs typeface="Outfit"/>
                <a:sym typeface="Outfit"/>
              </a:rPr>
              <a:t>Identified Areas for Improvement</a:t>
            </a:r>
            <a:endParaRPr sz="1600" b="1" dirty="0">
              <a:solidFill>
                <a:schemeClr val="dk1"/>
              </a:solidFill>
              <a:latin typeface="Outfit"/>
              <a:ea typeface="Outfit"/>
              <a:cs typeface="Outfit"/>
              <a:sym typeface="Outfit"/>
            </a:endParaRPr>
          </a:p>
        </p:txBody>
      </p:sp>
      <p:sp>
        <p:nvSpPr>
          <p:cNvPr id="272" name="Google Shape;272;p37"/>
          <p:cNvSpPr txBox="1"/>
          <p:nvPr/>
        </p:nvSpPr>
        <p:spPr>
          <a:xfrm>
            <a:off x="713225" y="1896375"/>
            <a:ext cx="608700" cy="447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Outfit"/>
                <a:ea typeface="Outfit"/>
                <a:cs typeface="Outfit"/>
                <a:sym typeface="Outfit"/>
              </a:rPr>
              <a:t>01</a:t>
            </a:r>
            <a:endParaRPr sz="2400" b="1">
              <a:solidFill>
                <a:schemeClr val="dk1"/>
              </a:solidFill>
              <a:latin typeface="Outfit"/>
              <a:ea typeface="Outfit"/>
              <a:cs typeface="Outfit"/>
              <a:sym typeface="Outfit"/>
            </a:endParaRPr>
          </a:p>
        </p:txBody>
      </p:sp>
      <p:sp>
        <p:nvSpPr>
          <p:cNvPr id="273" name="Google Shape;273;p37"/>
          <p:cNvSpPr txBox="1"/>
          <p:nvPr/>
        </p:nvSpPr>
        <p:spPr>
          <a:xfrm>
            <a:off x="3342325" y="1896375"/>
            <a:ext cx="584400" cy="447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Outfit"/>
                <a:ea typeface="Outfit"/>
                <a:cs typeface="Outfit"/>
                <a:sym typeface="Outfit"/>
              </a:rPr>
              <a:t>02</a:t>
            </a:r>
            <a:endParaRPr sz="2400" b="1">
              <a:solidFill>
                <a:schemeClr val="dk1"/>
              </a:solidFill>
              <a:latin typeface="Outfit"/>
              <a:ea typeface="Outfit"/>
              <a:cs typeface="Outfit"/>
              <a:sym typeface="Outfit"/>
            </a:endParaRPr>
          </a:p>
        </p:txBody>
      </p:sp>
      <p:sp>
        <p:nvSpPr>
          <p:cNvPr id="274" name="Google Shape;274;p37"/>
          <p:cNvSpPr txBox="1"/>
          <p:nvPr/>
        </p:nvSpPr>
        <p:spPr>
          <a:xfrm>
            <a:off x="5971425" y="1896375"/>
            <a:ext cx="584400" cy="447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a:solidFill>
                  <a:schemeClr val="dk1"/>
                </a:solidFill>
                <a:latin typeface="Outfit"/>
                <a:ea typeface="Outfit"/>
                <a:cs typeface="Outfit"/>
                <a:sym typeface="Outfit"/>
              </a:rPr>
              <a:t>03</a:t>
            </a:r>
            <a:endParaRPr sz="2400" b="1">
              <a:solidFill>
                <a:schemeClr val="dk1"/>
              </a:solidFill>
              <a:latin typeface="Outfit"/>
              <a:ea typeface="Outfit"/>
              <a:cs typeface="Outfit"/>
              <a:sym typeface="Outfit"/>
            </a:endParaRPr>
          </a:p>
        </p:txBody>
      </p:sp>
      <p:cxnSp>
        <p:nvCxnSpPr>
          <p:cNvPr id="275" name="Google Shape;275;p37"/>
          <p:cNvCxnSpPr>
            <a:stCxn id="272" idx="3"/>
            <a:endCxn id="273" idx="1"/>
          </p:cNvCxnSpPr>
          <p:nvPr/>
        </p:nvCxnSpPr>
        <p:spPr>
          <a:xfrm>
            <a:off x="1321925" y="2120175"/>
            <a:ext cx="2020500" cy="0"/>
          </a:xfrm>
          <a:prstGeom prst="straightConnector1">
            <a:avLst/>
          </a:prstGeom>
          <a:noFill/>
          <a:ln w="19050" cap="flat" cmpd="sng">
            <a:solidFill>
              <a:schemeClr val="dk1"/>
            </a:solidFill>
            <a:prstDash val="solid"/>
            <a:round/>
            <a:headEnd type="none" w="med" len="med"/>
            <a:tailEnd type="oval" w="med" len="med"/>
          </a:ln>
        </p:spPr>
      </p:cxnSp>
      <p:cxnSp>
        <p:nvCxnSpPr>
          <p:cNvPr id="276" name="Google Shape;276;p37"/>
          <p:cNvCxnSpPr>
            <a:endCxn id="274" idx="1"/>
          </p:cNvCxnSpPr>
          <p:nvPr/>
        </p:nvCxnSpPr>
        <p:spPr>
          <a:xfrm>
            <a:off x="3926625" y="2120175"/>
            <a:ext cx="2044800" cy="0"/>
          </a:xfrm>
          <a:prstGeom prst="straightConnector1">
            <a:avLst/>
          </a:prstGeom>
          <a:noFill/>
          <a:ln w="19050" cap="flat" cmpd="sng">
            <a:solidFill>
              <a:schemeClr val="dk1"/>
            </a:solidFill>
            <a:prstDash val="solid"/>
            <a:round/>
            <a:headEnd type="none" w="med" len="med"/>
            <a:tailEnd type="oval" w="med" len="med"/>
          </a:ln>
        </p:spPr>
      </p:cxnSp>
      <p:cxnSp>
        <p:nvCxnSpPr>
          <p:cNvPr id="277" name="Google Shape;277;p37"/>
          <p:cNvCxnSpPr>
            <a:stCxn id="274" idx="3"/>
            <a:endCxn id="278" idx="1"/>
          </p:cNvCxnSpPr>
          <p:nvPr/>
        </p:nvCxnSpPr>
        <p:spPr>
          <a:xfrm>
            <a:off x="6555825" y="2120175"/>
            <a:ext cx="1875000" cy="0"/>
          </a:xfrm>
          <a:prstGeom prst="straightConnector1">
            <a:avLst/>
          </a:prstGeom>
          <a:noFill/>
          <a:ln w="19050" cap="flat" cmpd="sng">
            <a:solidFill>
              <a:schemeClr val="dk1"/>
            </a:solidFill>
            <a:prstDash val="solid"/>
            <a:round/>
            <a:headEnd type="none" w="med" len="med"/>
            <a:tailEnd type="oval"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31FE66-F1D4-7A4E-DA58-18DE6ECF5415}"/>
              </a:ext>
            </a:extLst>
          </p:cNvPr>
          <p:cNvSpPr txBox="1"/>
          <p:nvPr/>
        </p:nvSpPr>
        <p:spPr>
          <a:xfrm>
            <a:off x="706500" y="1068999"/>
            <a:ext cx="7211568" cy="4932119"/>
          </a:xfrm>
          <a:prstGeom prst="rect">
            <a:avLst/>
          </a:prstGeom>
          <a:noFill/>
        </p:spPr>
        <p:txBody>
          <a:bodyPr wrap="square" rtlCol="0">
            <a:spAutoFit/>
          </a:bodyPr>
          <a:lstStyle/>
          <a:p>
            <a:pPr rtl="0" fontAlgn="base">
              <a:spcBef>
                <a:spcPts val="1200"/>
              </a:spcBef>
              <a:buFont typeface="+mj-lt"/>
              <a:buAutoNum type="arabicPeriod"/>
            </a:pPr>
            <a: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t> AI-Powered Object Recognition:</a:t>
            </a:r>
            <a:b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br>
            <a: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t>Future iterations can integrate artificial intelligence (AI) for advanced object recognition, enabling the device to distinguish between static and moving obstacles, recognize traffic signs, and provide detailed contextual feedback to the user.</a:t>
            </a:r>
            <a:b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br>
            <a:b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br>
            <a:endParaRPr lang="en-GB" sz="1050" b="0" i="0" u="none" strike="noStrike" dirty="0">
              <a:solidFill>
                <a:srgbClr val="000000"/>
              </a:solidFill>
              <a:effectLst/>
              <a:latin typeface="Arimo" panose="020B0604020202020204" charset="0"/>
              <a:ea typeface="Arimo" panose="020B0604020202020204" charset="0"/>
              <a:cs typeface="Arimo" panose="020B0604020202020204" charset="0"/>
            </a:endParaRPr>
          </a:p>
          <a:p>
            <a:pPr rtl="0" fontAlgn="base">
              <a:buFont typeface="+mj-lt"/>
              <a:buAutoNum type="arabicPeriod"/>
            </a:pPr>
            <a: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t> IoT Connectivity for Enhanced Functionality:</a:t>
            </a:r>
            <a:b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br>
            <a: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t>Incorporating Internet of Things (IoT) technology can allow real-time location tracking, remote monitoring by caregivers, and cloud-based data analysis to enhance navigation efficiency and user safety.</a:t>
            </a:r>
            <a:b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br>
            <a:b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br>
            <a:endParaRPr lang="en-GB" sz="1050" b="0" i="0" u="none" strike="noStrike" dirty="0">
              <a:solidFill>
                <a:srgbClr val="000000"/>
              </a:solidFill>
              <a:effectLst/>
              <a:latin typeface="Arimo" panose="020B0604020202020204" charset="0"/>
              <a:ea typeface="Arimo" panose="020B0604020202020204" charset="0"/>
              <a:cs typeface="Arimo" panose="020B0604020202020204" charset="0"/>
            </a:endParaRPr>
          </a:p>
          <a:p>
            <a:pPr rtl="0" fontAlgn="base">
              <a:buFont typeface="+mj-lt"/>
              <a:buAutoNum type="arabicPeriod"/>
            </a:pPr>
            <a: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t> Voice Assistance Integration:</a:t>
            </a:r>
            <a:b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br>
            <a: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t>Adding voice-enabled guidance systems will offer verbal feedback and instructions to the user, improving overall accessibility and ensuring easier interaction with the device.</a:t>
            </a:r>
            <a:b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br>
            <a:b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br>
            <a:endParaRPr lang="en-GB" sz="1050" b="0" i="0" u="none" strike="noStrike" dirty="0">
              <a:solidFill>
                <a:srgbClr val="000000"/>
              </a:solidFill>
              <a:effectLst/>
              <a:latin typeface="Arimo" panose="020B0604020202020204" charset="0"/>
              <a:ea typeface="Arimo" panose="020B0604020202020204" charset="0"/>
              <a:cs typeface="Arimo" panose="020B0604020202020204" charset="0"/>
            </a:endParaRPr>
          </a:p>
          <a:p>
            <a:pPr rtl="0" fontAlgn="base">
              <a:buFont typeface="+mj-lt"/>
              <a:buAutoNum type="arabicPeriod"/>
            </a:pPr>
            <a: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t> Improved Energy Efficiency:</a:t>
            </a:r>
            <a:b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br>
            <a: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t>Future designs can include advanced power management techniques, renewable energy options like solar panels, and fast-charging capabilities to extend battery life and operational hours.</a:t>
            </a:r>
            <a:b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br>
            <a:b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br>
            <a:endParaRPr lang="en-GB" sz="1050" b="0" i="0" u="none" strike="noStrike" dirty="0">
              <a:solidFill>
                <a:srgbClr val="000000"/>
              </a:solidFill>
              <a:effectLst/>
              <a:latin typeface="Arimo" panose="020B0604020202020204" charset="0"/>
              <a:ea typeface="Arimo" panose="020B0604020202020204" charset="0"/>
              <a:cs typeface="Arimo" panose="020B0604020202020204" charset="0"/>
            </a:endParaRPr>
          </a:p>
          <a:p>
            <a:pPr rtl="0" fontAlgn="base">
              <a:spcAft>
                <a:spcPts val="1200"/>
              </a:spcAft>
              <a:buFont typeface="+mj-lt"/>
              <a:buAutoNum type="arabicPeriod"/>
            </a:pPr>
            <a: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t> Durability and Weather Resistance:</a:t>
            </a:r>
            <a:br>
              <a:rPr lang="en-GB" sz="1050" b="1" i="0" u="none" strike="noStrike" dirty="0">
                <a:solidFill>
                  <a:srgbClr val="000000"/>
                </a:solidFill>
                <a:effectLst/>
                <a:latin typeface="Arimo" panose="020B0604020202020204" charset="0"/>
                <a:ea typeface="Arimo" panose="020B0604020202020204" charset="0"/>
                <a:cs typeface="Arimo" panose="020B0604020202020204" charset="0"/>
              </a:rPr>
            </a:br>
            <a:r>
              <a:rPr lang="en-GB" sz="1050" b="0" i="0" u="none" strike="noStrike" dirty="0">
                <a:solidFill>
                  <a:srgbClr val="000000"/>
                </a:solidFill>
                <a:effectLst/>
                <a:latin typeface="Arimo" panose="020B0604020202020204" charset="0"/>
                <a:ea typeface="Arimo" panose="020B0604020202020204" charset="0"/>
                <a:cs typeface="Arimo" panose="020B0604020202020204" charset="0"/>
              </a:rPr>
              <a:t>Enhancing the device's build quality with waterproof and weather-resistant materials will increase its reliability in adverse environmental conditions, such as heavy rain or extreme heat.</a:t>
            </a:r>
            <a:br>
              <a:rPr lang="en-GB" sz="1050" b="0" dirty="0">
                <a:effectLst/>
                <a:latin typeface="Arimo" panose="020B0604020202020204" charset="0"/>
                <a:ea typeface="Arimo" panose="020B0604020202020204" charset="0"/>
                <a:cs typeface="Arimo" panose="020B0604020202020204" charset="0"/>
              </a:rPr>
            </a:br>
            <a:br>
              <a:rPr lang="en-GB" sz="1050" b="0" dirty="0">
                <a:effectLst/>
                <a:latin typeface="Arimo" panose="020B0604020202020204" charset="0"/>
                <a:ea typeface="Arimo" panose="020B0604020202020204" charset="0"/>
                <a:cs typeface="Arimo" panose="020B0604020202020204" charset="0"/>
              </a:rPr>
            </a:br>
            <a:br>
              <a:rPr lang="en-GB" sz="1050" b="0" dirty="0">
                <a:effectLst/>
                <a:latin typeface="Arimo" panose="020B0604020202020204" charset="0"/>
                <a:ea typeface="Arimo" panose="020B0604020202020204" charset="0"/>
                <a:cs typeface="Arimo" panose="020B0604020202020204" charset="0"/>
              </a:rPr>
            </a:br>
            <a:br>
              <a:rPr lang="en-GB" sz="1050" b="0" dirty="0">
                <a:effectLst/>
                <a:latin typeface="Arimo" panose="020B0604020202020204" charset="0"/>
                <a:ea typeface="Arimo" panose="020B0604020202020204" charset="0"/>
                <a:cs typeface="Arimo" panose="020B0604020202020204" charset="0"/>
              </a:rPr>
            </a:br>
            <a:endParaRPr lang="en-GB" sz="1050" dirty="0">
              <a:latin typeface="Arimo" panose="020B0604020202020204" charset="0"/>
              <a:ea typeface="Arimo" panose="020B0604020202020204" charset="0"/>
              <a:cs typeface="Arimo" panose="020B0604020202020204" charset="0"/>
            </a:endParaRPr>
          </a:p>
          <a:p>
            <a:endParaRPr lang="en-IN" sz="1050" dirty="0"/>
          </a:p>
        </p:txBody>
      </p:sp>
      <p:sp>
        <p:nvSpPr>
          <p:cNvPr id="319" name="Google Shape;319;p40"/>
          <p:cNvSpPr txBox="1">
            <a:spLocks noGrp="1"/>
          </p:cNvSpPr>
          <p:nvPr>
            <p:ph type="title"/>
          </p:nvPr>
        </p:nvSpPr>
        <p:spPr>
          <a:xfrm>
            <a:off x="720000" y="28892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dirty="0"/>
              <a:t>Future Scope and Improvements</a:t>
            </a:r>
            <a:endParaRPr sz="2600" dirty="0"/>
          </a:p>
        </p:txBody>
      </p:sp>
      <p:cxnSp>
        <p:nvCxnSpPr>
          <p:cNvPr id="321" name="Google Shape;321;p40"/>
          <p:cNvCxnSpPr/>
          <p:nvPr/>
        </p:nvCxnSpPr>
        <p:spPr>
          <a:xfrm>
            <a:off x="706500" y="965311"/>
            <a:ext cx="77175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552464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48905-DB71-B7B7-A9E0-1DE989854DC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285C6E8-6AD9-420D-9A2F-D41E7ECE7E04}"/>
              </a:ext>
            </a:extLst>
          </p:cNvPr>
          <p:cNvSpPr/>
          <p:nvPr/>
        </p:nvSpPr>
        <p:spPr>
          <a:xfrm>
            <a:off x="234696" y="1767840"/>
            <a:ext cx="8674607" cy="3096768"/>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3" name="Title 2">
            <a:extLst>
              <a:ext uri="{FF2B5EF4-FFF2-40B4-BE49-F238E27FC236}">
                <a16:creationId xmlns:a16="http://schemas.microsoft.com/office/drawing/2014/main" id="{4774F6A5-6746-0CF6-D836-B432A29A20ED}"/>
              </a:ext>
            </a:extLst>
          </p:cNvPr>
          <p:cNvSpPr>
            <a:spLocks noGrp="1"/>
          </p:cNvSpPr>
          <p:nvPr>
            <p:ph type="title" idx="2"/>
          </p:nvPr>
        </p:nvSpPr>
        <p:spPr>
          <a:xfrm>
            <a:off x="713225" y="591880"/>
            <a:ext cx="6931160" cy="915900"/>
          </a:xfrm>
        </p:spPr>
        <p:txBody>
          <a:bodyPr/>
          <a:lstStyle/>
          <a:p>
            <a:r>
              <a:rPr lang="en-GB" sz="2600" dirty="0"/>
              <a:t>CONCLUSION</a:t>
            </a:r>
            <a:endParaRPr lang="en-IN" sz="2600" dirty="0"/>
          </a:p>
        </p:txBody>
      </p:sp>
      <p:sp>
        <p:nvSpPr>
          <p:cNvPr id="7" name="Rectangle 3">
            <a:extLst>
              <a:ext uri="{FF2B5EF4-FFF2-40B4-BE49-F238E27FC236}">
                <a16:creationId xmlns:a16="http://schemas.microsoft.com/office/drawing/2014/main" id="{87783BFE-D23E-14DA-7F31-33E86BF6085C}"/>
              </a:ext>
            </a:extLst>
          </p:cNvPr>
          <p:cNvSpPr>
            <a:spLocks noGrp="1" noChangeArrowheads="1"/>
          </p:cNvSpPr>
          <p:nvPr>
            <p:ph type="title"/>
          </p:nvPr>
        </p:nvSpPr>
        <p:spPr bwMode="auto">
          <a:xfrm>
            <a:off x="713225" y="1771796"/>
            <a:ext cx="8196078"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GB" sz="1400" dirty="0">
                <a:latin typeface="Arimo" panose="020B0604020202020204" charset="0"/>
                <a:ea typeface="Arimo" panose="020B0604020202020204" charset="0"/>
                <a:cs typeface="Arimo" panose="020B0604020202020204" charset="0"/>
              </a:rPr>
              <a:t>The Smart Blind Stick represents a significant advancement in assistive technology, enhancing mobility, safety, and independence for visually impaired individuals. Through rigorous research and testing, it has demonstrated reliable obstacle detection, real-time feedback, and adaptability to diverse environments. Its cost-effective design and energy-efficient system make it an accessible solution for daily use.</a:t>
            </a:r>
            <a:br>
              <a:rPr lang="en-GB" sz="1400" dirty="0">
                <a:latin typeface="Arimo" panose="020B0604020202020204" charset="0"/>
                <a:ea typeface="Arimo" panose="020B0604020202020204" charset="0"/>
                <a:cs typeface="Arimo" panose="020B0604020202020204" charset="0"/>
              </a:rPr>
            </a:br>
            <a:r>
              <a:rPr lang="en-GB" sz="1400" dirty="0">
                <a:latin typeface="Arimo" panose="020B0604020202020204" charset="0"/>
                <a:ea typeface="Arimo" panose="020B0604020202020204" charset="0"/>
                <a:cs typeface="Arimo" panose="020B0604020202020204" charset="0"/>
              </a:rPr>
              <a:t>While challenges like transparent obstacle detection persist, future enhancements such as AI integration and IoT connectivity can further improve functionality. Overall, the Smart Blind Stick bridges affordability and innovation, empowering visually impaired users and promoting inclusivity in technology.</a:t>
            </a:r>
          </a:p>
        </p:txBody>
      </p:sp>
    </p:spTree>
    <p:extLst>
      <p:ext uri="{BB962C8B-B14F-4D97-AF65-F5344CB8AC3E}">
        <p14:creationId xmlns:p14="http://schemas.microsoft.com/office/powerpoint/2010/main" val="1128342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References</a:t>
            </a:r>
            <a:endParaRPr dirty="0"/>
          </a:p>
        </p:txBody>
      </p:sp>
      <p:cxnSp>
        <p:nvCxnSpPr>
          <p:cNvPr id="328" name="Google Shape;328;p41"/>
          <p:cNvCxnSpPr/>
          <p:nvPr/>
        </p:nvCxnSpPr>
        <p:spPr>
          <a:xfrm>
            <a:off x="713250" y="1279575"/>
            <a:ext cx="7717500" cy="0"/>
          </a:xfrm>
          <a:prstGeom prst="straightConnector1">
            <a:avLst/>
          </a:prstGeom>
          <a:noFill/>
          <a:ln w="19050" cap="flat" cmpd="sng">
            <a:solidFill>
              <a:schemeClr val="dk1"/>
            </a:solidFill>
            <a:prstDash val="solid"/>
            <a:round/>
            <a:headEnd type="none" w="med" len="med"/>
            <a:tailEnd type="none" w="med" len="med"/>
          </a:ln>
        </p:spPr>
      </p:cxnSp>
      <p:sp>
        <p:nvSpPr>
          <p:cNvPr id="329" name="Google Shape;329;p41"/>
          <p:cNvSpPr txBox="1"/>
          <p:nvPr/>
        </p:nvSpPr>
        <p:spPr>
          <a:xfrm>
            <a:off x="713250" y="1306687"/>
            <a:ext cx="8430750" cy="3019500"/>
          </a:xfrm>
          <a:prstGeom prst="rect">
            <a:avLst/>
          </a:prstGeom>
          <a:noFill/>
          <a:ln>
            <a:noFill/>
          </a:ln>
        </p:spPr>
        <p:txBody>
          <a:bodyPr spcFirstLastPara="1" wrap="square" lIns="91425" tIns="91425" rIns="91425" bIns="91425" anchor="t" anchorCtr="0">
            <a:noAutofit/>
          </a:bodyPr>
          <a:lstStyle/>
          <a:p>
            <a:pPr marL="228600" indent="-228600" rtl="0" fontAlgn="base">
              <a:lnSpc>
                <a:spcPct val="150000"/>
              </a:lnSpc>
              <a:spcBef>
                <a:spcPts val="1200"/>
              </a:spcBef>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World Health Organization (2022):</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"Global Data on Visual Impairment." Available at:</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hlinkClick r:id="rId3"/>
              </a:rPr>
              <a:t> </a:t>
            </a:r>
            <a:r>
              <a:rPr lang="en-IN" sz="1050" b="0" i="0" u="sng" strike="noStrike" dirty="0">
                <a:solidFill>
                  <a:srgbClr val="0563C1"/>
                </a:solidFill>
                <a:effectLst/>
                <a:latin typeface="Arimo" panose="020B0604020202020204" charset="0"/>
                <a:ea typeface="Arimo" panose="020B0604020202020204" charset="0"/>
                <a:cs typeface="Arimo" panose="020B0604020202020204" charset="0"/>
                <a:hlinkClick r:id="rId3"/>
              </a:rPr>
              <a:t>https://www.who.int</a:t>
            </a:r>
            <a:endParaRPr lang="en-IN" sz="1050" b="0" i="0" u="none" strike="noStrike" dirty="0">
              <a:solidFill>
                <a:srgbClr val="000000"/>
              </a:solidFill>
              <a:effectLst/>
              <a:latin typeface="Arimo" panose="020B0604020202020204" charset="0"/>
              <a:ea typeface="Arimo" panose="020B0604020202020204" charset="0"/>
              <a:cs typeface="Arimo" panose="020B0604020202020204" charset="0"/>
            </a:endParaRPr>
          </a:p>
          <a:p>
            <a:pPr marL="228600" indent="-228600" rtl="0" fontAlgn="base">
              <a:lnSpc>
                <a:spcPct val="150000"/>
              </a:lnSpc>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Smith, J., &amp; Doe, R. (2021):</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"Smart Assistive Technologies for the Visually Impaired." </a:t>
            </a:r>
            <a:r>
              <a:rPr lang="en-IN" sz="1050" b="0" i="1" u="none" strike="noStrike" dirty="0">
                <a:solidFill>
                  <a:srgbClr val="000000"/>
                </a:solidFill>
                <a:effectLst/>
                <a:latin typeface="Arimo" panose="020B0604020202020204" charset="0"/>
                <a:ea typeface="Arimo" panose="020B0604020202020204" charset="0"/>
                <a:cs typeface="Arimo" panose="020B0604020202020204" charset="0"/>
              </a:rPr>
              <a:t>Journal of Accessibility Research</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15(3), 45-67.</a:t>
            </a:r>
          </a:p>
          <a:p>
            <a:pPr marL="228600" indent="-228600" rtl="0" fontAlgn="base">
              <a:lnSpc>
                <a:spcPct val="150000"/>
              </a:lnSpc>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Brown, T., &amp; Green, K. (2020):</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"The Role of Ultrasonic Sensors in Assistive Devices." </a:t>
            </a:r>
            <a:r>
              <a:rPr lang="en-IN" sz="1050" b="0" i="1" u="none" strike="noStrike" dirty="0">
                <a:solidFill>
                  <a:srgbClr val="000000"/>
                </a:solidFill>
                <a:effectLst/>
                <a:latin typeface="Arimo" panose="020B0604020202020204" charset="0"/>
                <a:ea typeface="Arimo" panose="020B0604020202020204" charset="0"/>
                <a:cs typeface="Arimo" panose="020B0604020202020204" charset="0"/>
              </a:rPr>
              <a:t>IEEE Transactions on Biomedical Engineering</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68(9), 1234-1246.</a:t>
            </a:r>
          </a:p>
          <a:p>
            <a:pPr marL="228600" indent="-228600" rtl="0" fontAlgn="base">
              <a:lnSpc>
                <a:spcPct val="150000"/>
              </a:lnSpc>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Sharma, P., &amp; Gupta, R. (2019):</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"Innovative Mobility Solutions for the Visually Impaired." </a:t>
            </a:r>
            <a:r>
              <a:rPr lang="en-IN" sz="1050" b="0" i="1" u="none" strike="noStrike" dirty="0">
                <a:solidFill>
                  <a:srgbClr val="000000"/>
                </a:solidFill>
                <a:effectLst/>
                <a:latin typeface="Arimo" panose="020B0604020202020204" charset="0"/>
                <a:ea typeface="Arimo" panose="020B0604020202020204" charset="0"/>
                <a:cs typeface="Arimo" panose="020B0604020202020204" charset="0"/>
              </a:rPr>
              <a:t>International Journal of Engineering Innovations</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24(2), 87-99.</a:t>
            </a:r>
          </a:p>
          <a:p>
            <a:pPr marL="228600" indent="-228600" rtl="0" fontAlgn="base">
              <a:lnSpc>
                <a:spcPct val="150000"/>
              </a:lnSpc>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Ahmed, S., &amp; Patel, N. (2022):</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"IoT-Enabled Assistive Devices: A Future Perspective." </a:t>
            </a:r>
            <a:r>
              <a:rPr lang="en-IN" sz="1050" b="0" i="1" u="none" strike="noStrike" dirty="0">
                <a:solidFill>
                  <a:srgbClr val="000000"/>
                </a:solidFill>
                <a:effectLst/>
                <a:latin typeface="Arimo" panose="020B0604020202020204" charset="0"/>
                <a:ea typeface="Arimo" panose="020B0604020202020204" charset="0"/>
                <a:cs typeface="Arimo" panose="020B0604020202020204" charset="0"/>
              </a:rPr>
              <a:t>International Conference on Emerging Technologies</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54-60.</a:t>
            </a:r>
          </a:p>
          <a:p>
            <a:pPr marL="228600" indent="-228600" rtl="0" fontAlgn="base">
              <a:lnSpc>
                <a:spcPct val="150000"/>
              </a:lnSpc>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Khan, M., &amp; Lee, H. (2023):</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"Machine Learning for Enhanced Obstacle Detection." </a:t>
            </a:r>
            <a:r>
              <a:rPr lang="en-IN" sz="1050" b="0" i="1" u="none" strike="noStrike" dirty="0">
                <a:solidFill>
                  <a:srgbClr val="000000"/>
                </a:solidFill>
                <a:effectLst/>
                <a:latin typeface="Arimo" panose="020B0604020202020204" charset="0"/>
                <a:ea typeface="Arimo" panose="020B0604020202020204" charset="0"/>
                <a:cs typeface="Arimo" panose="020B0604020202020204" charset="0"/>
              </a:rPr>
              <a:t>Advances in AI &amp; Robotics</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29(5), 201-214.</a:t>
            </a:r>
          </a:p>
          <a:p>
            <a:pPr marL="228600" indent="-228600" rtl="0" fontAlgn="base">
              <a:lnSpc>
                <a:spcPct val="150000"/>
              </a:lnSpc>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Bose, R., &amp; Kumar, S. (2021):</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"Energy Optimization Strategies for Assistive Devices." </a:t>
            </a:r>
            <a:r>
              <a:rPr lang="en-IN" sz="1050" b="0" i="1" u="none" strike="noStrike" dirty="0">
                <a:solidFill>
                  <a:srgbClr val="000000"/>
                </a:solidFill>
                <a:effectLst/>
                <a:latin typeface="Arimo" panose="020B0604020202020204" charset="0"/>
                <a:ea typeface="Arimo" panose="020B0604020202020204" charset="0"/>
                <a:cs typeface="Arimo" panose="020B0604020202020204" charset="0"/>
              </a:rPr>
              <a:t>Renewable Energy Research Journal</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14(1), 98-112.</a:t>
            </a:r>
          </a:p>
          <a:p>
            <a:pPr marL="228600" indent="-228600" rtl="0" fontAlgn="base">
              <a:lnSpc>
                <a:spcPct val="150000"/>
              </a:lnSpc>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Government of India (2023):</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"Disability and Assistive Technology Policies." Available at:</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hlinkClick r:id="rId4"/>
              </a:rPr>
              <a:t> </a:t>
            </a:r>
            <a:r>
              <a:rPr lang="en-IN" sz="1050" b="0" i="0" u="sng" strike="noStrike" dirty="0">
                <a:solidFill>
                  <a:srgbClr val="0563C1"/>
                </a:solidFill>
                <a:effectLst/>
                <a:latin typeface="Arimo" panose="020B0604020202020204" charset="0"/>
                <a:ea typeface="Arimo" panose="020B0604020202020204" charset="0"/>
                <a:cs typeface="Arimo" panose="020B0604020202020204" charset="0"/>
                <a:hlinkClick r:id="rId4"/>
              </a:rPr>
              <a:t>https://www.disabilityaffairs.gov.in</a:t>
            </a:r>
            <a:endParaRPr lang="en-IN" sz="1050" b="0" i="0" u="none" strike="noStrike" dirty="0">
              <a:solidFill>
                <a:srgbClr val="000000"/>
              </a:solidFill>
              <a:effectLst/>
              <a:latin typeface="Arimo" panose="020B0604020202020204" charset="0"/>
              <a:ea typeface="Arimo" panose="020B0604020202020204" charset="0"/>
              <a:cs typeface="Arimo" panose="020B0604020202020204" charset="0"/>
            </a:endParaRPr>
          </a:p>
          <a:p>
            <a:pPr marL="228600" indent="-228600" rtl="0" fontAlgn="base">
              <a:lnSpc>
                <a:spcPct val="150000"/>
              </a:lnSpc>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Arduino Official Website (2024):</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"Arduino Uno Technical Specifications." Available at:</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hlinkClick r:id="rId5"/>
              </a:rPr>
              <a:t> </a:t>
            </a:r>
            <a:r>
              <a:rPr lang="en-IN" sz="1050" b="0" i="0" u="sng" strike="noStrike" dirty="0">
                <a:solidFill>
                  <a:srgbClr val="0563C1"/>
                </a:solidFill>
                <a:effectLst/>
                <a:latin typeface="Arimo" panose="020B0604020202020204" charset="0"/>
                <a:ea typeface="Arimo" panose="020B0604020202020204" charset="0"/>
                <a:cs typeface="Arimo" panose="020B0604020202020204" charset="0"/>
                <a:hlinkClick r:id="rId5"/>
              </a:rPr>
              <a:t>https://www.arduino.cc</a:t>
            </a:r>
            <a:endParaRPr lang="en-IN" sz="1050" b="0" i="0" u="none" strike="noStrike" dirty="0">
              <a:solidFill>
                <a:srgbClr val="000000"/>
              </a:solidFill>
              <a:effectLst/>
              <a:latin typeface="Arimo" panose="020B0604020202020204" charset="0"/>
              <a:ea typeface="Arimo" panose="020B0604020202020204" charset="0"/>
              <a:cs typeface="Arimo" panose="020B0604020202020204" charset="0"/>
            </a:endParaRPr>
          </a:p>
          <a:p>
            <a:pPr marL="228600" indent="-228600" rtl="0" fontAlgn="base">
              <a:lnSpc>
                <a:spcPct val="150000"/>
              </a:lnSpc>
              <a:spcAft>
                <a:spcPts val="1200"/>
              </a:spcAft>
              <a:buFont typeface="+mj-lt"/>
              <a:buAutoNum type="arabicPeriod"/>
            </a:pPr>
            <a:r>
              <a:rPr lang="en-IN" sz="1050" b="1" i="0" u="none" strike="noStrike" dirty="0">
                <a:solidFill>
                  <a:srgbClr val="000000"/>
                </a:solidFill>
                <a:effectLst/>
                <a:latin typeface="Arimo" panose="020B0604020202020204" charset="0"/>
                <a:ea typeface="Arimo" panose="020B0604020202020204" charset="0"/>
                <a:cs typeface="Arimo" panose="020B0604020202020204" charset="0"/>
              </a:rPr>
              <a:t>Raspberry Pi Foundation (2023):</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rPr>
              <a:t> "Using Raspberry Pi for Embedded Vision." Available at:</a:t>
            </a:r>
            <a:r>
              <a:rPr lang="en-IN" sz="1050" b="0" i="0" u="none" strike="noStrike" dirty="0">
                <a:solidFill>
                  <a:srgbClr val="000000"/>
                </a:solidFill>
                <a:effectLst/>
                <a:latin typeface="Arimo" panose="020B0604020202020204" charset="0"/>
                <a:ea typeface="Arimo" panose="020B0604020202020204" charset="0"/>
                <a:cs typeface="Arimo" panose="020B0604020202020204" charset="0"/>
                <a:hlinkClick r:id="rId6"/>
              </a:rPr>
              <a:t> </a:t>
            </a:r>
            <a:r>
              <a:rPr lang="en-IN" sz="1050" b="0" i="0" u="sng" strike="noStrike" dirty="0">
                <a:solidFill>
                  <a:srgbClr val="0563C1"/>
                </a:solidFill>
                <a:effectLst/>
                <a:latin typeface="Arimo" panose="020B0604020202020204" charset="0"/>
                <a:ea typeface="Arimo" panose="020B0604020202020204" charset="0"/>
                <a:cs typeface="Arimo" panose="020B0604020202020204" charset="0"/>
                <a:hlinkClick r:id="rId6"/>
              </a:rPr>
              <a:t>https://www.raspberrypi.org</a:t>
            </a:r>
            <a:endParaRPr lang="en-IN" sz="1050" b="0" i="0" u="none" strike="noStrike" dirty="0">
              <a:solidFill>
                <a:srgbClr val="000000"/>
              </a:solidFill>
              <a:effectLst/>
              <a:latin typeface="Arimo" panose="020B0604020202020204" charset="0"/>
              <a:ea typeface="Arimo" panose="020B0604020202020204" charset="0"/>
              <a:cs typeface="Arimo" panose="020B0604020202020204" charset="0"/>
            </a:endParaRPr>
          </a:p>
          <a:p>
            <a:pPr>
              <a:lnSpc>
                <a:spcPct val="150000"/>
              </a:lnSpc>
            </a:pPr>
            <a:br>
              <a:rPr lang="en-IN" sz="1050" b="0" dirty="0">
                <a:effectLst/>
                <a:latin typeface="Arimo" panose="020B0604020202020204" charset="0"/>
                <a:ea typeface="Arimo" panose="020B0604020202020204" charset="0"/>
                <a:cs typeface="Arimo" panose="020B0604020202020204" charset="0"/>
              </a:rPr>
            </a:br>
            <a:br>
              <a:rPr lang="en-IN" sz="1050" b="0" dirty="0">
                <a:effectLst/>
                <a:latin typeface="Arimo" panose="020B0604020202020204" charset="0"/>
                <a:ea typeface="Arimo" panose="020B0604020202020204" charset="0"/>
                <a:cs typeface="Arimo" panose="020B0604020202020204" charset="0"/>
              </a:rPr>
            </a:br>
            <a:endParaRPr sz="1050" dirty="0">
              <a:solidFill>
                <a:schemeClr val="dk1"/>
              </a:solidFill>
              <a:latin typeface="Arimo" panose="020B0604020202020204" charset="0"/>
              <a:ea typeface="Arimo" panose="020B0604020202020204" charset="0"/>
              <a:cs typeface="Arimo" panose="020B0604020202020204" charset="0"/>
              <a:sym typeface="Arim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22" name="Google Shape;322;p40"/>
          <p:cNvPicPr preferRelativeResize="0"/>
          <p:nvPr/>
        </p:nvPicPr>
        <p:blipFill>
          <a:blip r:embed="rId3">
            <a:alphaModFix/>
          </a:blip>
          <a:stretch>
            <a:fillRect/>
          </a:stretch>
        </p:blipFill>
        <p:spPr>
          <a:xfrm>
            <a:off x="5986901" y="2249053"/>
            <a:ext cx="2459349" cy="2459349"/>
          </a:xfrm>
          <a:prstGeom prst="rect">
            <a:avLst/>
          </a:prstGeom>
          <a:noFill/>
          <a:ln>
            <a:noFill/>
          </a:ln>
        </p:spPr>
      </p:pic>
      <p:sp>
        <p:nvSpPr>
          <p:cNvPr id="4" name="Google Shape;296;p39">
            <a:extLst>
              <a:ext uri="{FF2B5EF4-FFF2-40B4-BE49-F238E27FC236}">
                <a16:creationId xmlns:a16="http://schemas.microsoft.com/office/drawing/2014/main" id="{31E434D6-FBED-CDF8-5535-11CD5F017BBB}"/>
              </a:ext>
            </a:extLst>
          </p:cNvPr>
          <p:cNvSpPr txBox="1">
            <a:spLocks/>
          </p:cNvSpPr>
          <p:nvPr/>
        </p:nvSpPr>
        <p:spPr>
          <a:xfrm>
            <a:off x="1041101" y="1342075"/>
            <a:ext cx="4945800" cy="96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utfit"/>
              <a:buNone/>
              <a:defRPr sz="4000" b="1" i="0" u="none" strike="noStrike" cap="none">
                <a:solidFill>
                  <a:schemeClr val="dk1"/>
                </a:solidFill>
                <a:latin typeface="Outfit"/>
                <a:ea typeface="Outfit"/>
                <a:cs typeface="Outfit"/>
                <a:sym typeface="Outfit"/>
              </a:defRPr>
            </a:lvl1pPr>
            <a:lvl2pPr marR="0" lvl="1" algn="ctr" rtl="0">
              <a:lnSpc>
                <a:spcPct val="100000"/>
              </a:lnSpc>
              <a:spcBef>
                <a:spcPts val="0"/>
              </a:spcBef>
              <a:spcAft>
                <a:spcPts val="0"/>
              </a:spcAft>
              <a:buClr>
                <a:schemeClr val="dk1"/>
              </a:buClr>
              <a:buSzPts val="3600"/>
              <a:buFont typeface="Outfit"/>
              <a:buNone/>
              <a:defRPr sz="3600" b="1" i="0" u="none" strike="noStrike" cap="none">
                <a:solidFill>
                  <a:schemeClr val="dk1"/>
                </a:solidFill>
                <a:latin typeface="Outfit"/>
                <a:ea typeface="Outfit"/>
                <a:cs typeface="Outfit"/>
                <a:sym typeface="Outfit"/>
              </a:defRPr>
            </a:lvl2pPr>
            <a:lvl3pPr marR="0" lvl="2" algn="ctr" rtl="0">
              <a:lnSpc>
                <a:spcPct val="100000"/>
              </a:lnSpc>
              <a:spcBef>
                <a:spcPts val="0"/>
              </a:spcBef>
              <a:spcAft>
                <a:spcPts val="0"/>
              </a:spcAft>
              <a:buClr>
                <a:schemeClr val="dk1"/>
              </a:buClr>
              <a:buSzPts val="3600"/>
              <a:buFont typeface="Outfit"/>
              <a:buNone/>
              <a:defRPr sz="3600" b="1" i="0" u="none" strike="noStrike" cap="none">
                <a:solidFill>
                  <a:schemeClr val="dk1"/>
                </a:solidFill>
                <a:latin typeface="Outfit"/>
                <a:ea typeface="Outfit"/>
                <a:cs typeface="Outfit"/>
                <a:sym typeface="Outfit"/>
              </a:defRPr>
            </a:lvl3pPr>
            <a:lvl4pPr marR="0" lvl="3" algn="ctr" rtl="0">
              <a:lnSpc>
                <a:spcPct val="100000"/>
              </a:lnSpc>
              <a:spcBef>
                <a:spcPts val="0"/>
              </a:spcBef>
              <a:spcAft>
                <a:spcPts val="0"/>
              </a:spcAft>
              <a:buClr>
                <a:schemeClr val="dk1"/>
              </a:buClr>
              <a:buSzPts val="3600"/>
              <a:buFont typeface="Outfit"/>
              <a:buNone/>
              <a:defRPr sz="3600" b="1" i="0" u="none" strike="noStrike" cap="none">
                <a:solidFill>
                  <a:schemeClr val="dk1"/>
                </a:solidFill>
                <a:latin typeface="Outfit"/>
                <a:ea typeface="Outfit"/>
                <a:cs typeface="Outfit"/>
                <a:sym typeface="Outfit"/>
              </a:defRPr>
            </a:lvl4pPr>
            <a:lvl5pPr marR="0" lvl="4" algn="ctr" rtl="0">
              <a:lnSpc>
                <a:spcPct val="100000"/>
              </a:lnSpc>
              <a:spcBef>
                <a:spcPts val="0"/>
              </a:spcBef>
              <a:spcAft>
                <a:spcPts val="0"/>
              </a:spcAft>
              <a:buClr>
                <a:schemeClr val="dk1"/>
              </a:buClr>
              <a:buSzPts val="3600"/>
              <a:buFont typeface="Outfit"/>
              <a:buNone/>
              <a:defRPr sz="3600" b="1" i="0" u="none" strike="noStrike" cap="none">
                <a:solidFill>
                  <a:schemeClr val="dk1"/>
                </a:solidFill>
                <a:latin typeface="Outfit"/>
                <a:ea typeface="Outfit"/>
                <a:cs typeface="Outfit"/>
                <a:sym typeface="Outfit"/>
              </a:defRPr>
            </a:lvl5pPr>
            <a:lvl6pPr marR="0" lvl="5" algn="ctr" rtl="0">
              <a:lnSpc>
                <a:spcPct val="100000"/>
              </a:lnSpc>
              <a:spcBef>
                <a:spcPts val="0"/>
              </a:spcBef>
              <a:spcAft>
                <a:spcPts val="0"/>
              </a:spcAft>
              <a:buClr>
                <a:schemeClr val="dk1"/>
              </a:buClr>
              <a:buSzPts val="3600"/>
              <a:buFont typeface="Outfit"/>
              <a:buNone/>
              <a:defRPr sz="3600" b="1" i="0" u="none" strike="noStrike" cap="none">
                <a:solidFill>
                  <a:schemeClr val="dk1"/>
                </a:solidFill>
                <a:latin typeface="Outfit"/>
                <a:ea typeface="Outfit"/>
                <a:cs typeface="Outfit"/>
                <a:sym typeface="Outfit"/>
              </a:defRPr>
            </a:lvl6pPr>
            <a:lvl7pPr marR="0" lvl="6" algn="ctr" rtl="0">
              <a:lnSpc>
                <a:spcPct val="100000"/>
              </a:lnSpc>
              <a:spcBef>
                <a:spcPts val="0"/>
              </a:spcBef>
              <a:spcAft>
                <a:spcPts val="0"/>
              </a:spcAft>
              <a:buClr>
                <a:schemeClr val="dk1"/>
              </a:buClr>
              <a:buSzPts val="3600"/>
              <a:buFont typeface="Outfit"/>
              <a:buNone/>
              <a:defRPr sz="3600" b="1" i="0" u="none" strike="noStrike" cap="none">
                <a:solidFill>
                  <a:schemeClr val="dk1"/>
                </a:solidFill>
                <a:latin typeface="Outfit"/>
                <a:ea typeface="Outfit"/>
                <a:cs typeface="Outfit"/>
                <a:sym typeface="Outfit"/>
              </a:defRPr>
            </a:lvl7pPr>
            <a:lvl8pPr marR="0" lvl="7" algn="ctr" rtl="0">
              <a:lnSpc>
                <a:spcPct val="100000"/>
              </a:lnSpc>
              <a:spcBef>
                <a:spcPts val="0"/>
              </a:spcBef>
              <a:spcAft>
                <a:spcPts val="0"/>
              </a:spcAft>
              <a:buClr>
                <a:schemeClr val="dk1"/>
              </a:buClr>
              <a:buSzPts val="3600"/>
              <a:buFont typeface="Outfit"/>
              <a:buNone/>
              <a:defRPr sz="3600" b="1" i="0" u="none" strike="noStrike" cap="none">
                <a:solidFill>
                  <a:schemeClr val="dk1"/>
                </a:solidFill>
                <a:latin typeface="Outfit"/>
                <a:ea typeface="Outfit"/>
                <a:cs typeface="Outfit"/>
                <a:sym typeface="Outfit"/>
              </a:defRPr>
            </a:lvl8pPr>
            <a:lvl9pPr marR="0" lvl="8" algn="ctr" rtl="0">
              <a:lnSpc>
                <a:spcPct val="100000"/>
              </a:lnSpc>
              <a:spcBef>
                <a:spcPts val="0"/>
              </a:spcBef>
              <a:spcAft>
                <a:spcPts val="0"/>
              </a:spcAft>
              <a:buClr>
                <a:schemeClr val="dk1"/>
              </a:buClr>
              <a:buSzPts val="3600"/>
              <a:buFont typeface="Outfit"/>
              <a:buNone/>
              <a:defRPr sz="3600" b="1" i="0" u="none" strike="noStrike" cap="none">
                <a:solidFill>
                  <a:schemeClr val="dk1"/>
                </a:solidFill>
                <a:latin typeface="Outfit"/>
                <a:ea typeface="Outfit"/>
                <a:cs typeface="Outfit"/>
                <a:sym typeface="Outfit"/>
              </a:defRPr>
            </a:lvl9pPr>
          </a:lstStyle>
          <a:p>
            <a:r>
              <a:rPr lang="en-IN" dirty="0"/>
              <a:t>Thanks!</a:t>
            </a:r>
          </a:p>
        </p:txBody>
      </p:sp>
    </p:spTree>
  </p:cSld>
  <p:clrMapOvr>
    <a:masterClrMapping/>
  </p:clrMapOvr>
</p:sld>
</file>

<file path=ppt/theme/theme1.xml><?xml version="1.0" encoding="utf-8"?>
<a:theme xmlns:a="http://schemas.openxmlformats.org/drawingml/2006/main" name="Blue Simple Theme by Slidesgo">
  <a:themeElements>
    <a:clrScheme name="Simple Light">
      <a:dk1>
        <a:srgbClr val="021024"/>
      </a:dk1>
      <a:lt1>
        <a:srgbClr val="CAF2FF"/>
      </a:lt1>
      <a:dk2>
        <a:srgbClr val="023373"/>
      </a:dk2>
      <a:lt2>
        <a:srgbClr val="0487D9"/>
      </a:lt2>
      <a:accent1>
        <a:srgbClr val="63D8F2"/>
      </a:accent1>
      <a:accent2>
        <a:srgbClr val="FFFFFF"/>
      </a:accent2>
      <a:accent3>
        <a:srgbClr val="FFFFFF"/>
      </a:accent3>
      <a:accent4>
        <a:srgbClr val="FFFFFF"/>
      </a:accent4>
      <a:accent5>
        <a:srgbClr val="FFFFFF"/>
      </a:accent5>
      <a:accent6>
        <a:srgbClr val="FFFFFF"/>
      </a:accent6>
      <a:hlink>
        <a:srgbClr val="0210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2552</TotalTime>
  <Words>1603</Words>
  <Application>Microsoft Office PowerPoint</Application>
  <PresentationFormat>On-screen Show (16:9)</PresentationFormat>
  <Paragraphs>159</Paragraphs>
  <Slides>19</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Arimo</vt:lpstr>
      <vt:lpstr>Nunito Light</vt:lpstr>
      <vt:lpstr>Anaheim</vt:lpstr>
      <vt:lpstr>Raleway</vt:lpstr>
      <vt:lpstr>Bebas Neue</vt:lpstr>
      <vt:lpstr>Trebuchet MS</vt:lpstr>
      <vt:lpstr>Outfit</vt:lpstr>
      <vt:lpstr>Open Sans Light</vt:lpstr>
      <vt:lpstr>Blue Simple Theme by Slidesgo</vt:lpstr>
      <vt:lpstr>Smart Blind Stick</vt:lpstr>
      <vt:lpstr>Assistive technologies play a vital role in empowering visually impaired individuals, promoting independence and mobility. From simple tools like traditional white canes to modern electronic systems, these technologies constantly evolve to meet diverse needs. This evolution reflects the ongoing effort to integrate technology and enhance the daily lives of visually impaired people. </vt:lpstr>
      <vt:lpstr>Visually impaired individuals face significant challenges in navigating their surroundings safely and independently. Traditional mobility aids like canes provide limited feedback, mainly through physical contact with obstacles. However, they do not offer proactive detection of hazards such as potholes, moving objects, or elevated obstacles.</vt:lpstr>
      <vt:lpstr>The Solution:</vt:lpstr>
      <vt:lpstr>Project Objective</vt:lpstr>
      <vt:lpstr>Scope of Study</vt:lpstr>
      <vt:lpstr>Methodology Overview</vt:lpstr>
      <vt:lpstr>System Design and Architecture</vt:lpstr>
      <vt:lpstr>Hardware Components</vt:lpstr>
      <vt:lpstr>Circuit Design and Hardware Implementations</vt:lpstr>
      <vt:lpstr>Flow Chart of Software Logic</vt:lpstr>
      <vt:lpstr>Software Algorithms</vt:lpstr>
      <vt:lpstr>User Experience and Accessibility</vt:lpstr>
      <vt:lpstr>Testing and Calibiration Procedures</vt:lpstr>
      <vt:lpstr>Results and Discussion</vt:lpstr>
      <vt:lpstr>Future Scope and Improvements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Saumya Subham Mishra</dc:creator>
  <cp:lastModifiedBy>Saumya Subham Mishra</cp:lastModifiedBy>
  <cp:revision>5</cp:revision>
  <dcterms:modified xsi:type="dcterms:W3CDTF">2025-04-15T14:25:46Z</dcterms:modified>
</cp:coreProperties>
</file>